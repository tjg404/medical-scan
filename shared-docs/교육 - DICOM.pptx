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0"/>
  </p:notesMasterIdLst>
  <p:sldIdLst>
    <p:sldId id="256" r:id="rId3"/>
    <p:sldId id="277" r:id="rId4"/>
    <p:sldId id="257" r:id="rId5"/>
    <p:sldId id="278" r:id="rId6"/>
    <p:sldId id="302" r:id="rId7"/>
    <p:sldId id="303" r:id="rId8"/>
    <p:sldId id="258" r:id="rId9"/>
    <p:sldId id="259" r:id="rId10"/>
    <p:sldId id="264" r:id="rId11"/>
    <p:sldId id="260" r:id="rId12"/>
    <p:sldId id="261" r:id="rId13"/>
    <p:sldId id="262" r:id="rId14"/>
    <p:sldId id="263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7" r:id="rId45"/>
    <p:sldId id="298" r:id="rId46"/>
    <p:sldId id="299" r:id="rId47"/>
    <p:sldId id="300" r:id="rId48"/>
    <p:sldId id="301" r:id="rId4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85" autoAdjust="0"/>
    <p:restoredTop sz="94660"/>
  </p:normalViewPr>
  <p:slideViewPr>
    <p:cSldViewPr>
      <p:cViewPr varScale="1">
        <p:scale>
          <a:sx n="100" d="100"/>
          <a:sy n="100" d="100"/>
        </p:scale>
        <p:origin x="216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A5BB04-AE43-4AFB-A5A9-BB468EA570B1}" type="datetimeFigureOut">
              <a:rPr lang="ko-KR" altLang="en-US" smtClean="0"/>
              <a:pPr/>
              <a:t>2023-10-17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3A2540-5FF8-4EC8-B0DD-67B895BFBA6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5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3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5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4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5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5</a:t>
            </a:fld>
            <a:endParaRPr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1079673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5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6</a:t>
            </a:fld>
            <a:endParaRPr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1128868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5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7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5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8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5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9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5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10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5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11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5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12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5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13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5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14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5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15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5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16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5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17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5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18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5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19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5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20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5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21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5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22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5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23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5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24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5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25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6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26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6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27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6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28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6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29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6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30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6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31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6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32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6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33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6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34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6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35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6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36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6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37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6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38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6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39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6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40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6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41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6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42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6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43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6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44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6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45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6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46</a:t>
            </a:fld>
            <a:endParaRPr lang="en-US" altLang="ko-KR" sz="120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5780" name="슬라이드 번호 개체 틀 3"/>
          <p:cNvSpPr txBox="1">
            <a:spLocks noGrp="1"/>
          </p:cNvSpPr>
          <p:nvPr/>
        </p:nvSpPr>
        <p:spPr bwMode="auto">
          <a:xfrm>
            <a:off x="3884613" y="8686206"/>
            <a:ext cx="2971800" cy="45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DCB981-132D-4123-A46D-02441D45F3E0}" type="slidenum">
              <a:rPr lang="ko-KR" altLang="en-US" sz="1200"/>
              <a:pPr algn="r"/>
              <a:t>47</a:t>
            </a:fld>
            <a:endParaRPr lang="en-US" altLang="ko-KR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8BAD-15A2-4073-93E7-D276C01B8451}" type="datetimeFigureOut">
              <a:rPr lang="ko-KR" altLang="en-US" smtClean="0"/>
              <a:pPr/>
              <a:t>2023-10-17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9ADD-3965-42EC-B40A-4E061D4E1E0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8BAD-15A2-4073-93E7-D276C01B8451}" type="datetimeFigureOut">
              <a:rPr lang="ko-KR" altLang="en-US" smtClean="0"/>
              <a:pPr/>
              <a:t>2023-10-17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9ADD-3965-42EC-B40A-4E061D4E1E0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8BAD-15A2-4073-93E7-D276C01B8451}" type="datetimeFigureOut">
              <a:rPr lang="ko-KR" altLang="en-US" smtClean="0"/>
              <a:pPr/>
              <a:t>2023-10-17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9ADD-3965-42EC-B40A-4E061D4E1E0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8BAD-15A2-4073-93E7-D276C01B8451}" type="datetimeFigureOut">
              <a:rPr lang="ko-KR" altLang="en-US" smtClean="0"/>
              <a:pPr/>
              <a:t>2023-10-17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9ADD-3965-42EC-B40A-4E061D4E1E0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8BAD-15A2-4073-93E7-D276C01B8451}" type="datetimeFigureOut">
              <a:rPr lang="ko-KR" altLang="en-US" smtClean="0"/>
              <a:pPr/>
              <a:t>2023-10-17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9ADD-3965-42EC-B40A-4E061D4E1E0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8BAD-15A2-4073-93E7-D276C01B8451}" type="datetimeFigureOut">
              <a:rPr lang="ko-KR" altLang="en-US" smtClean="0"/>
              <a:pPr/>
              <a:t>2023-10-17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9ADD-3965-42EC-B40A-4E061D4E1E0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8BAD-15A2-4073-93E7-D276C01B8451}" type="datetimeFigureOut">
              <a:rPr lang="ko-KR" altLang="en-US" smtClean="0"/>
              <a:pPr/>
              <a:t>2023-10-17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9ADD-3965-42EC-B40A-4E061D4E1E0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8BAD-15A2-4073-93E7-D276C01B8451}" type="datetimeFigureOut">
              <a:rPr lang="ko-KR" altLang="en-US" smtClean="0"/>
              <a:pPr/>
              <a:t>2023-10-17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9ADD-3965-42EC-B40A-4E061D4E1E0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8BAD-15A2-4073-93E7-D276C01B8451}" type="datetimeFigureOut">
              <a:rPr lang="ko-KR" altLang="en-US" smtClean="0"/>
              <a:pPr/>
              <a:t>2023-10-17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9ADD-3965-42EC-B40A-4E061D4E1E0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8BAD-15A2-4073-93E7-D276C01B8451}" type="datetimeFigureOut">
              <a:rPr lang="ko-KR" altLang="en-US" smtClean="0"/>
              <a:pPr/>
              <a:t>2023-10-17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9ADD-3965-42EC-B40A-4E061D4E1E0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8BAD-15A2-4073-93E7-D276C01B8451}" type="datetimeFigureOut">
              <a:rPr lang="ko-KR" altLang="en-US" smtClean="0"/>
              <a:pPr/>
              <a:t>2023-10-17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9ADD-3965-42EC-B40A-4E061D4E1E0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8A8BAD-15A2-4073-93E7-D276C01B8451}" type="datetimeFigureOut">
              <a:rPr lang="ko-KR" altLang="en-US" smtClean="0"/>
              <a:pPr/>
              <a:t>2023-10-17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59ADD-3965-42EC-B40A-4E061D4E1E0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Rectangle 20"/>
          <p:cNvSpPr>
            <a:spLocks noChangeArrowheads="1"/>
          </p:cNvSpPr>
          <p:nvPr/>
        </p:nvSpPr>
        <p:spPr bwMode="auto">
          <a:xfrm>
            <a:off x="0" y="914400"/>
            <a:ext cx="9144000" cy="533400"/>
          </a:xfrm>
          <a:prstGeom prst="rect">
            <a:avLst/>
          </a:prstGeom>
          <a:solidFill>
            <a:srgbClr val="9966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ko-KR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7.png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5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6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0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7"/>
          <p:cNvSpPr>
            <a:spLocks noChangeArrowheads="1"/>
          </p:cNvSpPr>
          <p:nvPr/>
        </p:nvSpPr>
        <p:spPr bwMode="ltGray">
          <a:xfrm>
            <a:off x="0" y="589340"/>
            <a:ext cx="9144000" cy="111654"/>
          </a:xfrm>
          <a:prstGeom prst="rect">
            <a:avLst/>
          </a:prstGeom>
          <a:solidFill>
            <a:srgbClr val="4FA2E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굴림" pitchFamily="50" charset="-127"/>
              <a:cs typeface="Arial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142976" y="1285860"/>
            <a:ext cx="6597376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4400" b="1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DICOM</a:t>
            </a:r>
          </a:p>
          <a:p>
            <a:pPr algn="ctr"/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(</a:t>
            </a: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D</a:t>
            </a:r>
            <a: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igital</a:t>
            </a:r>
            <a:r>
              <a:rPr kumimoji="0" lang="en-US" altLang="ko-KR" sz="2800" b="1" i="0" u="none" strike="noStrike" kern="0" cap="none" spc="0" normalizeH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</a:t>
            </a:r>
            <a:r>
              <a:rPr kumimoji="0" lang="en-US" altLang="ko-KR" sz="2800" b="1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I</a:t>
            </a:r>
            <a:r>
              <a:rPr kumimoji="0" lang="en-US" altLang="ko-KR" sz="2800" b="1" i="0" u="none" strike="noStrike" kern="0" cap="none" spc="0" normalizeH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maging and </a:t>
            </a:r>
            <a:r>
              <a:rPr kumimoji="0" lang="en-US" altLang="ko-KR" sz="2800" b="1" i="0" u="none" strike="noStrike" kern="0" cap="none" spc="0" normalizeH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CO</a:t>
            </a:r>
            <a:r>
              <a:rPr kumimoji="0" lang="en-US" altLang="ko-KR" sz="2800" b="1" i="0" u="none" strike="noStrike" kern="0" cap="none" spc="0" normalizeH="0" noProof="0" dirty="0" err="1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mmunictions</a:t>
            </a:r>
            <a:r>
              <a:rPr kumimoji="0" lang="en-US" altLang="ko-KR" sz="2800" b="1" i="0" u="none" strike="noStrike" kern="0" cap="none" spc="0" normalizeH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in </a:t>
            </a:r>
            <a:r>
              <a:rPr kumimoji="0" lang="en-US" altLang="ko-KR" sz="2800" b="1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M</a:t>
            </a:r>
            <a:r>
              <a:rPr kumimoji="0" lang="en-US" altLang="ko-KR" sz="2800" b="1" i="0" u="none" strike="noStrike" kern="0" cap="none" spc="0" normalizeH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edicine)</a:t>
            </a:r>
            <a:br>
              <a: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</a:br>
            <a:br>
              <a:rPr kumimoji="0" lang="en-US" altLang="ko-KR" sz="3800" b="1" i="0" u="none" strike="noStrike" kern="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</a:br>
            <a:r>
              <a:rPr kumimoji="0" lang="ko-KR" altLang="en-US" sz="3800" b="1" i="0" u="none" strike="noStrike" kern="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의료용디지털영상및통신</a:t>
            </a:r>
            <a:br>
              <a:rPr kumimoji="0" lang="en-US" altLang="ko-KR" sz="3800" b="1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</a:br>
            <a:endParaRPr lang="ko-KR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7"/>
          <p:cNvSpPr>
            <a:spLocks noChangeArrowheads="1"/>
          </p:cNvSpPr>
          <p:nvPr/>
        </p:nvSpPr>
        <p:spPr bwMode="ltGray">
          <a:xfrm>
            <a:off x="0" y="589340"/>
            <a:ext cx="9144000" cy="111654"/>
          </a:xfrm>
          <a:prstGeom prst="rect">
            <a:avLst/>
          </a:prstGeom>
          <a:solidFill>
            <a:srgbClr val="4FA2E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굴림" pitchFamily="50" charset="-127"/>
              <a:cs typeface="Arial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142976" y="1291583"/>
            <a:ext cx="6858048" cy="4545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altLang="ko-KR" sz="2400" b="1" dirty="0"/>
              <a:t> Introduction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altLang="ko-KR" sz="2400" b="1"/>
              <a:t> DICOM </a:t>
            </a:r>
            <a:r>
              <a:rPr lang="en-US" altLang="ko-KR" sz="2400" b="1" dirty="0"/>
              <a:t>Concepts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2400" b="1" dirty="0"/>
              <a:t> DICOM Network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2400" b="1" dirty="0"/>
              <a:t> </a:t>
            </a:r>
            <a:r>
              <a:rPr lang="en-US" sz="2400" b="1"/>
              <a:t>DICOM File</a:t>
            </a:r>
            <a:endParaRPr lang="en-US" sz="2400" b="1" dirty="0"/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2400" b="1"/>
              <a:t> </a:t>
            </a:r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DICOM Service Class</a:t>
            </a:r>
          </a:p>
        </p:txBody>
      </p:sp>
      <p:sp>
        <p:nvSpPr>
          <p:cNvPr id="4" name="직사각형 4"/>
          <p:cNvSpPr>
            <a:spLocks noChangeArrowheads="1"/>
          </p:cNvSpPr>
          <p:nvPr/>
        </p:nvSpPr>
        <p:spPr bwMode="auto">
          <a:xfrm>
            <a:off x="285720" y="142852"/>
            <a:ext cx="136287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0. Index</a:t>
            </a:r>
            <a:endParaRPr lang="ko-KR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357158" y="285728"/>
            <a:ext cx="2377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1. Introduction</a:t>
            </a:r>
            <a:endParaRPr lang="ko-KR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285720" y="1000108"/>
            <a:ext cx="86439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1.1 </a:t>
            </a:r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DICOM </a:t>
            </a:r>
            <a:r>
              <a:rPr lang="ko-KR" altLang="en-US" b="1" dirty="0">
                <a:latin typeface="맑은 고딕" pitchFamily="50" charset="-127"/>
                <a:ea typeface="맑은 고딕" pitchFamily="50" charset="-127"/>
              </a:rPr>
              <a:t>이란 </a:t>
            </a:r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?</a:t>
            </a:r>
            <a:endParaRPr lang="ko-KR" altLang="en-US" sz="1800" b="1" dirty="0">
              <a:solidFill>
                <a:srgbClr val="FF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28596" y="2551837"/>
            <a:ext cx="764386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dirty="0">
                <a:ea typeface="굴림" pitchFamily="50" charset="-127"/>
              </a:rPr>
              <a:t> Committee formed to develop a standard for imaging equipment to communicate with other </a:t>
            </a:r>
            <a:r>
              <a:rPr lang="en-US" altLang="ko-KR">
                <a:ea typeface="굴림" pitchFamily="50" charset="-127"/>
              </a:rPr>
              <a:t>devices.</a:t>
            </a:r>
          </a:p>
          <a:p>
            <a:r>
              <a:rPr lang="en-US" altLang="ko-KR">
                <a:ea typeface="굴림" pitchFamily="50" charset="-127"/>
              </a:rPr>
              <a:t>  - </a:t>
            </a:r>
            <a:r>
              <a:rPr lang="ko-KR" altLang="en-US">
                <a:ea typeface="굴림" pitchFamily="50" charset="-127"/>
              </a:rPr>
              <a:t>서로 다른 기기 간에 통신하기 위한 표준</a:t>
            </a:r>
            <a:endParaRPr lang="en-US" altLang="ko-KR" dirty="0">
              <a:ea typeface="굴림" pitchFamily="50" charset="-127"/>
            </a:endParaRPr>
          </a:p>
          <a:p>
            <a:pPr>
              <a:buFont typeface="Arial" pitchFamily="34" charset="0"/>
              <a:buChar char="•"/>
            </a:pPr>
            <a:endParaRPr lang="en-US" altLang="ko-KR" dirty="0">
              <a:ea typeface="굴림" pitchFamily="50" charset="-127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dirty="0">
                <a:ea typeface="굴림" pitchFamily="50" charset="-127"/>
              </a:rPr>
              <a:t> Both an image format &amp; a network protocol.  (As you might be able to guess from the “Imaging” and “Communications” parts of the </a:t>
            </a:r>
            <a:r>
              <a:rPr lang="en-US" altLang="ko-KR">
                <a:ea typeface="굴림" pitchFamily="50" charset="-127"/>
              </a:rPr>
              <a:t>name)</a:t>
            </a:r>
          </a:p>
          <a:p>
            <a:r>
              <a:rPr lang="en-US" altLang="ko-KR">
                <a:ea typeface="굴림" pitchFamily="50" charset="-127"/>
              </a:rPr>
              <a:t>  - </a:t>
            </a:r>
            <a:r>
              <a:rPr lang="ko-KR" altLang="en-US">
                <a:ea typeface="굴림" pitchFamily="50" charset="-127"/>
              </a:rPr>
              <a:t>영상포맷 </a:t>
            </a:r>
            <a:r>
              <a:rPr lang="en-US" altLang="ko-KR">
                <a:ea typeface="굴림" pitchFamily="50" charset="-127"/>
              </a:rPr>
              <a:t>&amp; </a:t>
            </a:r>
            <a:r>
              <a:rPr lang="ko-KR" altLang="en-US">
                <a:ea typeface="굴림" pitchFamily="50" charset="-127"/>
              </a:rPr>
              <a:t>통신프로토콜</a:t>
            </a:r>
            <a:endParaRPr lang="en-US" altLang="ko-KR" dirty="0">
              <a:ea typeface="굴림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28596" y="1500174"/>
            <a:ext cx="70723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DICOM : Digital Imaging and </a:t>
            </a:r>
            <a:r>
              <a:rPr lang="en-US" altLang="ko-KR" b="1" dirty="0" err="1">
                <a:latin typeface="맑은 고딕" pitchFamily="50" charset="-127"/>
                <a:ea typeface="맑은 고딕" pitchFamily="50" charset="-127"/>
              </a:rPr>
              <a:t>COmmunictions</a:t>
            </a:r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b="1">
                <a:latin typeface="맑은 고딕" pitchFamily="50" charset="-127"/>
                <a:ea typeface="맑은 고딕" pitchFamily="50" charset="-127"/>
              </a:rPr>
              <a:t>in Medicine</a:t>
            </a:r>
          </a:p>
          <a:p>
            <a:r>
              <a:rPr lang="en-US" altLang="ko-KR" b="1">
                <a:solidFill>
                  <a:srgbClr val="FF3300"/>
                </a:solidFill>
                <a:latin typeface="맑은 고딕" pitchFamily="50" charset="-127"/>
                <a:ea typeface="맑은 고딕" pitchFamily="50" charset="-127"/>
              </a:rPr>
              <a:t>	(</a:t>
            </a:r>
            <a:r>
              <a:rPr lang="ko-KR" altLang="en-US" b="1">
                <a:solidFill>
                  <a:srgbClr val="FF3300"/>
                </a:solidFill>
                <a:latin typeface="맑은 고딕" pitchFamily="50" charset="-127"/>
                <a:ea typeface="맑은 고딕" pitchFamily="50" charset="-127"/>
              </a:rPr>
              <a:t>의료용디지털영상및통신에 관한 국제 표준</a:t>
            </a:r>
            <a:r>
              <a:rPr lang="en-US" altLang="ko-KR" b="1">
                <a:solidFill>
                  <a:srgbClr val="FF33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b="1" dirty="0">
              <a:solidFill>
                <a:srgbClr val="FF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357158" y="285728"/>
            <a:ext cx="2377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1. Introduction</a:t>
            </a:r>
            <a:endParaRPr lang="ko-KR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285720" y="1000108"/>
            <a:ext cx="86439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1.2  DICOM </a:t>
            </a:r>
            <a:r>
              <a:rPr lang="ko-KR" altLang="en-US" sz="18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역사</a:t>
            </a:r>
            <a:r>
              <a:rPr lang="en-US" altLang="ko-KR" b="1">
                <a:latin typeface="맑은 고딕" pitchFamily="50" charset="-127"/>
                <a:ea typeface="맑은 고딕" pitchFamily="50" charset="-127"/>
              </a:rPr>
              <a:t> </a:t>
            </a:r>
            <a:endParaRPr lang="ko-KR" altLang="en-US" sz="1800" b="1" dirty="0">
              <a:solidFill>
                <a:srgbClr val="FF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84058" y="1759581"/>
            <a:ext cx="8175884" cy="1136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dirty="0">
                <a:latin typeface="나눔고딕" pitchFamily="50" charset="-127"/>
                <a:ea typeface="나눔고딕" pitchFamily="50" charset="-127"/>
              </a:rPr>
              <a:t>ACR: American College </a:t>
            </a:r>
            <a:r>
              <a:rPr lang="en-US" altLang="ko-KR" sz="1600">
                <a:latin typeface="나눔고딕" pitchFamily="50" charset="-127"/>
                <a:ea typeface="나눔고딕" pitchFamily="50" charset="-127"/>
              </a:rPr>
              <a:t>of Radiology (</a:t>
            </a:r>
            <a:r>
              <a:rPr lang="ko-KR" altLang="en-US" sz="1600">
                <a:latin typeface="나눔고딕" pitchFamily="50" charset="-127"/>
                <a:ea typeface="나눔고딕" pitchFamily="50" charset="-127"/>
              </a:rPr>
              <a:t>미국방사선학회</a:t>
            </a:r>
            <a:r>
              <a:rPr lang="en-US" altLang="ko-KR" sz="1600">
                <a:latin typeface="나눔고딕" pitchFamily="50" charset="-127"/>
                <a:ea typeface="나눔고딕" pitchFamily="50" charset="-127"/>
              </a:rPr>
              <a:t>)</a:t>
            </a:r>
            <a:endParaRPr lang="en-US" altLang="ko-KR" sz="1600" dirty="0">
              <a:latin typeface="나눔고딕" pitchFamily="50" charset="-127"/>
              <a:ea typeface="나눔고딕" pitchFamily="50" charset="-127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dirty="0">
                <a:latin typeface="나눔고딕" pitchFamily="50" charset="-127"/>
                <a:ea typeface="나눔고딕" pitchFamily="50" charset="-127"/>
              </a:rPr>
              <a:t>NEMA: National Electrical </a:t>
            </a:r>
            <a:r>
              <a:rPr lang="en-US" altLang="ko-KR" sz="1600">
                <a:latin typeface="나눔고딕" pitchFamily="50" charset="-127"/>
                <a:ea typeface="나눔고딕" pitchFamily="50" charset="-127"/>
              </a:rPr>
              <a:t>Manufacturers Association (</a:t>
            </a:r>
            <a:r>
              <a:rPr lang="ko-KR" altLang="en-US" sz="1600">
                <a:latin typeface="나눔고딕" pitchFamily="50" charset="-127"/>
                <a:ea typeface="나눔고딕" pitchFamily="50" charset="-127"/>
              </a:rPr>
              <a:t>미국전기공업협회</a:t>
            </a:r>
            <a:r>
              <a:rPr lang="en-US" altLang="ko-KR" sz="1600">
                <a:latin typeface="나눔고딕" pitchFamily="50" charset="-127"/>
                <a:ea typeface="나눔고딕" pitchFamily="50" charset="-127"/>
              </a:rPr>
              <a:t>)</a:t>
            </a:r>
            <a:endParaRPr lang="en-US" altLang="ko-KR" sz="1600" dirty="0">
              <a:latin typeface="나눔고딕" pitchFamily="50" charset="-127"/>
              <a:ea typeface="나눔고딕" pitchFamily="50" charset="-127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dirty="0">
                <a:latin typeface="나눔고딕" pitchFamily="50" charset="-127"/>
                <a:ea typeface="나눔고딕" pitchFamily="50" charset="-127"/>
              </a:rPr>
              <a:t>RSNA: Radiological Society of </a:t>
            </a:r>
            <a:r>
              <a:rPr lang="en-US" altLang="ko-KR" sz="1600">
                <a:latin typeface="나눔고딕" pitchFamily="50" charset="-127"/>
                <a:ea typeface="나눔고딕" pitchFamily="50" charset="-127"/>
              </a:rPr>
              <a:t>North America (</a:t>
            </a:r>
            <a:r>
              <a:rPr lang="ko-KR" altLang="en-US" sz="1600">
                <a:latin typeface="나눔고딕" pitchFamily="50" charset="-127"/>
                <a:ea typeface="나눔고딕" pitchFamily="50" charset="-127"/>
              </a:rPr>
              <a:t>북미영상의학회</a:t>
            </a:r>
            <a:r>
              <a:rPr lang="en-US" altLang="ko-KR" sz="1600">
                <a:latin typeface="나눔고딕" pitchFamily="50" charset="-127"/>
                <a:ea typeface="나눔고딕" pitchFamily="50" charset="-127"/>
              </a:rPr>
              <a:t>)</a:t>
            </a:r>
            <a:endParaRPr lang="en-US" altLang="ko-KR" sz="16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84058" y="3286123"/>
            <a:ext cx="8715436" cy="2620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>
                <a:ea typeface="굴림" pitchFamily="50" charset="-127"/>
              </a:rPr>
              <a:t> </a:t>
            </a:r>
            <a:r>
              <a:rPr lang="en-US" altLang="ko-KR" sz="1600" b="1"/>
              <a:t>1983</a:t>
            </a:r>
            <a:r>
              <a:rPr lang="ko-KR" altLang="en-US" sz="1600" b="1"/>
              <a:t>년 </a:t>
            </a:r>
            <a:r>
              <a:rPr lang="en-US" altLang="ko-KR" sz="1600" b="1"/>
              <a:t>ACR-NEMA </a:t>
            </a:r>
            <a:r>
              <a:rPr lang="ko-KR" altLang="en-US" sz="1600" b="1"/>
              <a:t>디지털영상전송표준위원회를 발족</a:t>
            </a:r>
            <a:endParaRPr lang="en-US" altLang="ko-KR" sz="1600" b="1" dirty="0">
              <a:ea typeface="굴림" pitchFamily="50" charset="-127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>
                <a:ea typeface="굴림" pitchFamily="50" charset="-127"/>
              </a:rPr>
              <a:t> 1985</a:t>
            </a:r>
            <a:r>
              <a:rPr lang="ko-KR" altLang="en-US" sz="1600" b="1">
                <a:ea typeface="굴림" pitchFamily="50" charset="-127"/>
              </a:rPr>
              <a:t>년 </a:t>
            </a:r>
            <a:r>
              <a:rPr lang="en-US" altLang="ko-KR" sz="1600" b="1">
                <a:ea typeface="굴림" pitchFamily="50" charset="-127"/>
              </a:rPr>
              <a:t>ACR-NEMA </a:t>
            </a:r>
            <a:r>
              <a:rPr lang="ko-KR" altLang="en-US" sz="1600" b="1">
                <a:ea typeface="굴림" pitchFamily="50" charset="-127"/>
              </a:rPr>
              <a:t>표준 버전 </a:t>
            </a:r>
            <a:r>
              <a:rPr lang="en-US" altLang="ko-KR" sz="1600" b="1">
                <a:ea typeface="굴림" pitchFamily="50" charset="-127"/>
              </a:rPr>
              <a:t>1.0 </a:t>
            </a:r>
            <a:r>
              <a:rPr lang="ko-KR" altLang="en-US" sz="1600" b="1">
                <a:ea typeface="굴림" pitchFamily="50" charset="-127"/>
              </a:rPr>
              <a:t>발표</a:t>
            </a:r>
            <a:endParaRPr lang="en-US" altLang="ko-KR" sz="1600" b="1">
              <a:ea typeface="굴림" pitchFamily="50" charset="-127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>
                <a:ea typeface="굴림" pitchFamily="50" charset="-127"/>
              </a:rPr>
              <a:t> 1988</a:t>
            </a:r>
            <a:r>
              <a:rPr lang="ko-KR" altLang="en-US" sz="1600" b="1">
                <a:ea typeface="굴림" pitchFamily="50" charset="-127"/>
              </a:rPr>
              <a:t>년 </a:t>
            </a:r>
            <a:r>
              <a:rPr lang="en-US" altLang="ko-KR" sz="1600" b="1">
                <a:ea typeface="굴림" pitchFamily="50" charset="-127"/>
              </a:rPr>
              <a:t>ACR-NEMA </a:t>
            </a:r>
            <a:r>
              <a:rPr lang="ko-KR" altLang="en-US" sz="1600" b="1">
                <a:ea typeface="굴림" pitchFamily="50" charset="-127"/>
              </a:rPr>
              <a:t>표준 버전 </a:t>
            </a:r>
            <a:r>
              <a:rPr lang="en-US" altLang="ko-KR" sz="1600" b="1">
                <a:ea typeface="굴림" pitchFamily="50" charset="-127"/>
              </a:rPr>
              <a:t>2.0 </a:t>
            </a:r>
            <a:r>
              <a:rPr lang="ko-KR" altLang="en-US" sz="1600" b="1">
                <a:ea typeface="굴림" pitchFamily="50" charset="-127"/>
              </a:rPr>
              <a:t>발표</a:t>
            </a:r>
            <a:endParaRPr lang="en-US" altLang="ko-KR" sz="1600" b="1" dirty="0">
              <a:ea typeface="굴림" pitchFamily="50" charset="-127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>
                <a:ea typeface="굴림" pitchFamily="50" charset="-127"/>
              </a:rPr>
              <a:t> 1993</a:t>
            </a:r>
            <a:r>
              <a:rPr lang="ko-KR" altLang="en-US" sz="1600" b="1">
                <a:ea typeface="굴림" pitchFamily="50" charset="-127"/>
              </a:rPr>
              <a:t>년 </a:t>
            </a:r>
            <a:r>
              <a:rPr lang="en-US" altLang="ko-KR" sz="1600" b="1">
                <a:ea typeface="굴림" pitchFamily="50" charset="-127"/>
              </a:rPr>
              <a:t>DICOM</a:t>
            </a:r>
            <a:r>
              <a:rPr lang="ko-KR" altLang="en-US" sz="1600" b="1">
                <a:ea typeface="굴림" pitchFamily="50" charset="-127"/>
              </a:rPr>
              <a:t>으로 이름 변경</a:t>
            </a:r>
            <a:r>
              <a:rPr lang="en-US" altLang="ko-KR" sz="1600" b="1">
                <a:ea typeface="굴림" pitchFamily="50" charset="-127"/>
              </a:rPr>
              <a:t>, </a:t>
            </a:r>
            <a:r>
              <a:rPr lang="ko-KR" altLang="en-US" sz="1600" b="1">
                <a:ea typeface="굴림" pitchFamily="50" charset="-127"/>
              </a:rPr>
              <a:t>버전 </a:t>
            </a:r>
            <a:r>
              <a:rPr lang="en-US" altLang="ko-KR" sz="1600" b="1">
                <a:ea typeface="굴림" pitchFamily="50" charset="-127"/>
              </a:rPr>
              <a:t>3 </a:t>
            </a:r>
            <a:r>
              <a:rPr lang="ko-KR" altLang="en-US" sz="1600" b="1">
                <a:ea typeface="굴림" pitchFamily="50" charset="-127"/>
              </a:rPr>
              <a:t>발표</a:t>
            </a:r>
            <a:endParaRPr lang="en-US" altLang="ko-KR" sz="1600" b="1">
              <a:ea typeface="굴림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>
                <a:ea typeface="굴림" pitchFamily="50" charset="-127"/>
              </a:rPr>
              <a:t>  - </a:t>
            </a:r>
            <a:r>
              <a:rPr lang="ko-KR" altLang="en-US" sz="1600" b="1">
                <a:ea typeface="굴림" pitchFamily="50" charset="-127"/>
              </a:rPr>
              <a:t>개체지향 정보모델 도입</a:t>
            </a:r>
            <a:r>
              <a:rPr lang="en-US" altLang="ko-KR" sz="1600" b="1">
                <a:ea typeface="굴림" pitchFamily="50" charset="-127"/>
              </a:rPr>
              <a:t>, </a:t>
            </a:r>
            <a:r>
              <a:rPr lang="ko-KR" altLang="en-US" sz="1600" b="1">
                <a:ea typeface="굴림" pitchFamily="50" charset="-127"/>
              </a:rPr>
              <a:t>네트워크 지원</a:t>
            </a:r>
            <a:endParaRPr lang="en-US" altLang="ko-KR" sz="1600" b="1" dirty="0">
              <a:ea typeface="굴림" pitchFamily="50" charset="-127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>
                <a:ea typeface="굴림" pitchFamily="50" charset="-127"/>
              </a:rPr>
              <a:t> </a:t>
            </a:r>
            <a:r>
              <a:rPr lang="ko-KR" altLang="en-US" sz="1600" b="1">
                <a:ea typeface="굴림" pitchFamily="50" charset="-127"/>
              </a:rPr>
              <a:t>이후 명목상의 버전은 </a:t>
            </a:r>
            <a:r>
              <a:rPr lang="en-US" altLang="ko-KR" sz="1600" b="1">
                <a:ea typeface="굴림" pitchFamily="50" charset="-127"/>
              </a:rPr>
              <a:t>DICOM 3.0</a:t>
            </a:r>
            <a:r>
              <a:rPr lang="ko-KR" altLang="en-US" sz="1600" b="1">
                <a:ea typeface="굴림" pitchFamily="50" charset="-127"/>
              </a:rPr>
              <a:t>으로 계속 유지되나</a:t>
            </a:r>
            <a:r>
              <a:rPr lang="en-US" altLang="ko-KR" sz="1600" b="1">
                <a:ea typeface="굴림" pitchFamily="50" charset="-127"/>
              </a:rPr>
              <a:t>, </a:t>
            </a:r>
            <a:r>
              <a:rPr lang="ko-KR" altLang="en-US" sz="1600" b="1">
                <a:ea typeface="굴림" pitchFamily="50" charset="-127"/>
              </a:rPr>
              <a:t>실질적으로는 매년 </a:t>
            </a:r>
            <a:r>
              <a:rPr lang="en-US" altLang="ko-KR" sz="1600" b="1">
                <a:ea typeface="굴림" pitchFamily="50" charset="-127"/>
              </a:rPr>
              <a:t>3, 4</a:t>
            </a:r>
            <a:r>
              <a:rPr lang="ko-KR" altLang="en-US" sz="1600" b="1">
                <a:ea typeface="굴림" pitchFamily="50" charset="-127"/>
              </a:rPr>
              <a:t>회 갱신됨</a:t>
            </a:r>
            <a:endParaRPr lang="en-US" altLang="ko-KR" sz="1600" b="1">
              <a:ea typeface="굴림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>
                <a:ea typeface="굴림" pitchFamily="50" charset="-127"/>
              </a:rPr>
              <a:t>  - </a:t>
            </a:r>
            <a:r>
              <a:rPr lang="ko-KR" altLang="en-US" sz="1600" b="1">
                <a:ea typeface="굴림" pitchFamily="50" charset="-127"/>
              </a:rPr>
              <a:t>최종버전</a:t>
            </a:r>
            <a:r>
              <a:rPr lang="en-US" altLang="ko-KR" sz="1600" b="1">
                <a:ea typeface="굴림" pitchFamily="50" charset="-127"/>
              </a:rPr>
              <a:t>: </a:t>
            </a:r>
            <a:r>
              <a:rPr lang="en-US" altLang="ko-KR" sz="1600" b="1"/>
              <a:t>DICOM 3 2023d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357158" y="285728"/>
            <a:ext cx="2377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1. Introduction</a:t>
            </a:r>
            <a:endParaRPr lang="ko-KR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285720" y="1000108"/>
            <a:ext cx="86439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1.3  DICOM </a:t>
            </a:r>
            <a:r>
              <a:rPr lang="ko-KR" altLang="en-US" sz="18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표준 구성 </a:t>
            </a:r>
            <a:r>
              <a:rPr lang="en-US" altLang="ko-KR" sz="18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(1)</a:t>
            </a:r>
            <a:r>
              <a:rPr lang="en-US" altLang="ko-KR" b="1">
                <a:latin typeface="맑은 고딕" pitchFamily="50" charset="-127"/>
                <a:ea typeface="맑은 고딕" pitchFamily="50" charset="-127"/>
              </a:rPr>
              <a:t> </a:t>
            </a:r>
            <a:endParaRPr lang="ko-KR" altLang="en-US" sz="1800" b="1" dirty="0">
              <a:solidFill>
                <a:srgbClr val="FF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28564" y="1640064"/>
            <a:ext cx="8319900" cy="4836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>
                <a:ea typeface="굴림" pitchFamily="50" charset="-127"/>
              </a:rPr>
              <a:t> </a:t>
            </a:r>
            <a:r>
              <a:rPr lang="en-US" altLang="ko-KR" sz="1600" b="1"/>
              <a:t>DICOM PS3.1 2023d - Introduction and Overview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/>
              <a:t> DICOM PS3.2 2023d - Conformance </a:t>
            </a:r>
            <a:r>
              <a:rPr lang="en-US" altLang="ko-KR" sz="1600" b="1">
                <a:solidFill>
                  <a:srgbClr val="FF0000"/>
                </a:solidFill>
              </a:rPr>
              <a:t>(</a:t>
            </a:r>
            <a:r>
              <a:rPr lang="ko-KR" altLang="en-US" sz="1600" b="1">
                <a:solidFill>
                  <a:srgbClr val="FF0000"/>
                </a:solidFill>
              </a:rPr>
              <a:t>표준 준수 지침서</a:t>
            </a:r>
            <a:r>
              <a:rPr lang="en-US" altLang="ko-KR" sz="1600" b="1">
                <a:solidFill>
                  <a:srgbClr val="FF0000"/>
                </a:solidFill>
              </a:rPr>
              <a:t>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/>
              <a:t> DICOM PS3.3 2023d - Information Object Definitions </a:t>
            </a:r>
            <a:r>
              <a:rPr lang="en-US" altLang="ko-KR" sz="1600" b="1">
                <a:solidFill>
                  <a:srgbClr val="FF0000"/>
                </a:solidFill>
              </a:rPr>
              <a:t>(</a:t>
            </a:r>
            <a:r>
              <a:rPr lang="ko-KR" altLang="en-US" sz="1600" b="1">
                <a:solidFill>
                  <a:srgbClr val="FF0000"/>
                </a:solidFill>
              </a:rPr>
              <a:t>개체 </a:t>
            </a:r>
            <a:r>
              <a:rPr lang="en-US" altLang="ko-KR" sz="1600" b="1">
                <a:solidFill>
                  <a:srgbClr val="FF0000"/>
                </a:solidFill>
              </a:rPr>
              <a:t>Class </a:t>
            </a:r>
            <a:r>
              <a:rPr lang="ko-KR" altLang="en-US" sz="1600" b="1">
                <a:solidFill>
                  <a:srgbClr val="FF0000"/>
                </a:solidFill>
              </a:rPr>
              <a:t>정의</a:t>
            </a:r>
            <a:r>
              <a:rPr lang="en-US" altLang="ko-KR" sz="1600" b="1">
                <a:solidFill>
                  <a:srgbClr val="FF0000"/>
                </a:solidFill>
              </a:rPr>
              <a:t>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/>
              <a:t> DICOM PS3.4 2023d - Service Class Specifications </a:t>
            </a:r>
            <a:r>
              <a:rPr lang="en-US" altLang="ko-KR" sz="1600" b="1">
                <a:solidFill>
                  <a:srgbClr val="FF0000"/>
                </a:solidFill>
              </a:rPr>
              <a:t>(DICOM </a:t>
            </a:r>
            <a:r>
              <a:rPr lang="ko-KR" altLang="en-US" sz="1600" b="1">
                <a:solidFill>
                  <a:srgbClr val="FF0000"/>
                </a:solidFill>
              </a:rPr>
              <a:t>서비스 정의</a:t>
            </a:r>
            <a:r>
              <a:rPr lang="en-US" altLang="ko-KR" sz="1600" b="1">
                <a:solidFill>
                  <a:srgbClr val="FF0000"/>
                </a:solidFill>
              </a:rPr>
              <a:t>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/>
              <a:t> DICOM PS3.5 2023d - Data Structures and Encoding </a:t>
            </a:r>
            <a:r>
              <a:rPr lang="en-US" altLang="ko-KR" sz="1600" b="1">
                <a:solidFill>
                  <a:srgbClr val="FF0000"/>
                </a:solidFill>
              </a:rPr>
              <a:t>(</a:t>
            </a:r>
            <a:r>
              <a:rPr lang="ko-KR" altLang="en-US" sz="1600" b="1">
                <a:solidFill>
                  <a:srgbClr val="FF0000"/>
                </a:solidFill>
              </a:rPr>
              <a:t>데이터 구조와 인코딩</a:t>
            </a:r>
            <a:r>
              <a:rPr lang="en-US" altLang="ko-KR" sz="1600" b="1">
                <a:solidFill>
                  <a:srgbClr val="FF0000"/>
                </a:solidFill>
              </a:rPr>
              <a:t>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/>
              <a:t> DICOM PS3.6 2023d - Data Dictionary </a:t>
            </a:r>
            <a:r>
              <a:rPr lang="en-US" altLang="ko-KR" sz="1600" b="1">
                <a:solidFill>
                  <a:srgbClr val="FF0000"/>
                </a:solidFill>
              </a:rPr>
              <a:t>(</a:t>
            </a:r>
            <a:r>
              <a:rPr lang="ko-KR" altLang="en-US" sz="1600" b="1">
                <a:solidFill>
                  <a:srgbClr val="FF0000"/>
                </a:solidFill>
              </a:rPr>
              <a:t>사전</a:t>
            </a:r>
            <a:r>
              <a:rPr lang="en-US" altLang="ko-KR" sz="1600" b="1">
                <a:solidFill>
                  <a:srgbClr val="FF0000"/>
                </a:solidFill>
              </a:rPr>
              <a:t>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/>
              <a:t> DICOM PS3.7 2023d - Message Exchange </a:t>
            </a:r>
            <a:r>
              <a:rPr lang="en-US" altLang="ko-KR" sz="1600" b="1">
                <a:solidFill>
                  <a:srgbClr val="FF0000"/>
                </a:solidFill>
              </a:rPr>
              <a:t>(</a:t>
            </a:r>
            <a:r>
              <a:rPr lang="ko-KR" altLang="en-US" sz="1600" b="1">
                <a:solidFill>
                  <a:srgbClr val="FF0000"/>
                </a:solidFill>
              </a:rPr>
              <a:t>통신 메시지 정의</a:t>
            </a:r>
            <a:r>
              <a:rPr lang="en-US" altLang="ko-KR" sz="1600" b="1">
                <a:solidFill>
                  <a:srgbClr val="FF0000"/>
                </a:solidFill>
              </a:rPr>
              <a:t>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/>
              <a:t> DICOM PS3.8 2023d - Network Communication Support for Message Exchange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/>
              <a:t>                                  </a:t>
            </a:r>
            <a:r>
              <a:rPr lang="en-US" altLang="ko-KR" sz="1600" b="1">
                <a:solidFill>
                  <a:srgbClr val="FF0000"/>
                </a:solidFill>
              </a:rPr>
              <a:t>(</a:t>
            </a:r>
            <a:r>
              <a:rPr lang="ko-KR" altLang="en-US" sz="1600" b="1">
                <a:solidFill>
                  <a:srgbClr val="FF0000"/>
                </a:solidFill>
              </a:rPr>
              <a:t>통신 프로토콜 정의</a:t>
            </a:r>
            <a:r>
              <a:rPr lang="en-US" altLang="ko-KR" sz="1600" b="1">
                <a:solidFill>
                  <a:srgbClr val="FF0000"/>
                </a:solidFill>
              </a:rPr>
              <a:t>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/>
              <a:t> DICOM PS3.10 2023d - Media Storage and File Format for Media Interchange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/>
              <a:t>                                  </a:t>
            </a:r>
            <a:r>
              <a:rPr lang="en-US" altLang="ko-KR" sz="1600" b="1">
                <a:solidFill>
                  <a:srgbClr val="FF0000"/>
                </a:solidFill>
              </a:rPr>
              <a:t>(CD/DVD</a:t>
            </a:r>
            <a:r>
              <a:rPr lang="ko-KR" altLang="en-US" sz="1600" b="1">
                <a:solidFill>
                  <a:srgbClr val="FF0000"/>
                </a:solidFill>
              </a:rPr>
              <a:t> </a:t>
            </a:r>
            <a:r>
              <a:rPr lang="en-US" altLang="ko-KR" sz="1600" b="1">
                <a:solidFill>
                  <a:srgbClr val="FF0000"/>
                </a:solidFill>
              </a:rPr>
              <a:t>DICOMDIR</a:t>
            </a:r>
            <a:r>
              <a:rPr lang="ko-KR" altLang="en-US" sz="1600" b="1">
                <a:solidFill>
                  <a:srgbClr val="FF0000"/>
                </a:solidFill>
              </a:rPr>
              <a:t> 정의</a:t>
            </a:r>
            <a:r>
              <a:rPr lang="en-US" altLang="ko-KR" sz="1600" b="1">
                <a:solidFill>
                  <a:srgbClr val="FF0000"/>
                </a:solidFill>
              </a:rPr>
              <a:t>, DICOM File)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/>
              <a:t> DICOM PS3.11 2023d - Media Storage Application Profiles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/>
              <a:t> DICOM PS3.12 2023d - Media Formats and Physical Media for Media Interchange</a:t>
            </a:r>
          </a:p>
        </p:txBody>
      </p:sp>
    </p:spTree>
    <p:extLst>
      <p:ext uri="{BB962C8B-B14F-4D97-AF65-F5344CB8AC3E}">
        <p14:creationId xmlns:p14="http://schemas.microsoft.com/office/powerpoint/2010/main" val="1187755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357158" y="285728"/>
            <a:ext cx="2377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1. Introduction</a:t>
            </a:r>
            <a:endParaRPr lang="ko-KR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285720" y="1000108"/>
            <a:ext cx="86439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1.3  DICOM </a:t>
            </a:r>
            <a:r>
              <a:rPr lang="ko-KR" altLang="en-US" sz="18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표준 구성</a:t>
            </a:r>
            <a:r>
              <a:rPr lang="en-US" altLang="ko-KR" b="1">
                <a:latin typeface="맑은 고딕" pitchFamily="50" charset="-127"/>
                <a:ea typeface="맑은 고딕" pitchFamily="50" charset="-127"/>
              </a:rPr>
              <a:t> (2)</a:t>
            </a:r>
            <a:endParaRPr lang="ko-KR" altLang="en-US" sz="1800" b="1" dirty="0">
              <a:solidFill>
                <a:srgbClr val="FF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28564" y="1640064"/>
            <a:ext cx="8319900" cy="3728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/>
              <a:t> DICOM PS3.14 2023d - Grayscale Standard Display Function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/>
              <a:t> DICOM PS3.15 2023d - Security and System Management Profiles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/>
              <a:t> DICOM PS3.16 2023d - Content Mapping Resource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/>
              <a:t> DICOM PS3.17 2023d - Explanatory Information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/>
              <a:t> DICOM PS3.18 2023d - Web Services </a:t>
            </a:r>
            <a:r>
              <a:rPr lang="en-US" altLang="ko-KR" sz="1600" b="1">
                <a:solidFill>
                  <a:srgbClr val="FF0000"/>
                </a:solidFill>
              </a:rPr>
              <a:t>(DICOMweb </a:t>
            </a:r>
            <a:r>
              <a:rPr lang="ko-KR" altLang="en-US" sz="1600" b="1">
                <a:solidFill>
                  <a:srgbClr val="FF0000"/>
                </a:solidFill>
              </a:rPr>
              <a:t>웹서비스 정의</a:t>
            </a:r>
            <a:r>
              <a:rPr lang="en-US" altLang="ko-KR" sz="1600" b="1">
                <a:solidFill>
                  <a:srgbClr val="FF0000"/>
                </a:solidFill>
              </a:rPr>
              <a:t>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/>
              <a:t> DICOM PS3.19 2023d - Application Hosting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/>
              <a:t> DICOM PS3.20 2023d - Imaging Reports using HL7 Clinical Document Architecture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/>
              <a:t> DICOM PS3.21 2023d - Transformations between DICOM and other Representations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/>
              <a:t> DICOM PS3.22 2023d - Real-Time Communication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1600" b="1"/>
          </a:p>
        </p:txBody>
      </p:sp>
    </p:spTree>
    <p:extLst>
      <p:ext uri="{BB962C8B-B14F-4D97-AF65-F5344CB8AC3E}">
        <p14:creationId xmlns:p14="http://schemas.microsoft.com/office/powerpoint/2010/main" val="2308145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500034" y="357166"/>
            <a:ext cx="2377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1. Introduction</a:t>
            </a:r>
            <a:endParaRPr lang="ko-KR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357158" y="1000108"/>
            <a:ext cx="61055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18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1.4 </a:t>
            </a:r>
            <a:r>
              <a:rPr lang="en-US" altLang="ko-KR" sz="1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DICOM File </a:t>
            </a:r>
            <a:r>
              <a:rPr lang="ko-KR" altLang="en-US" sz="1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과 일반 영상</a:t>
            </a:r>
            <a:r>
              <a:rPr lang="en-US" altLang="ko-KR" sz="1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File</a:t>
            </a:r>
            <a:r>
              <a:rPr lang="ko-KR" altLang="en-US" sz="1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의 차이점</a:t>
            </a:r>
            <a:endParaRPr lang="ko-KR" altLang="en-US" sz="1800" b="1" dirty="0">
              <a:solidFill>
                <a:srgbClr val="FF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073" name="Picture 1" descr="작은그림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48" y="2500306"/>
            <a:ext cx="1214446" cy="1127700"/>
          </a:xfrm>
          <a:prstGeom prst="rect">
            <a:avLst/>
          </a:prstGeom>
          <a:noFill/>
        </p:spPr>
      </p:pic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2857484" y="2786058"/>
            <a:ext cx="5143540" cy="50006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BMP File(bmp)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은 오직 영상자체의 정보만 있다</a:t>
            </a:r>
            <a:endParaRPr kumimoji="1" lang="ko-K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077" name="Line 5"/>
          <p:cNvSpPr>
            <a:spLocks noChangeShapeType="1"/>
          </p:cNvSpPr>
          <p:nvPr/>
        </p:nvSpPr>
        <p:spPr bwMode="auto">
          <a:xfrm>
            <a:off x="2285984" y="3014626"/>
            <a:ext cx="457200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2857484" y="4435554"/>
            <a:ext cx="4929226" cy="59364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DICOM File(</a:t>
            </a:r>
            <a:r>
              <a:rPr kumimoji="1" lang="en-US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dcm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)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은 영상자체의 정보 및 </a:t>
            </a: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영상에 관련된 모든 정보를 가지고 있다</a:t>
            </a: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.</a:t>
            </a:r>
            <a:endParaRPr kumimoji="1" lang="en-US" altLang="ko-KR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075" name="Line 3"/>
          <p:cNvSpPr>
            <a:spLocks noChangeShapeType="1"/>
          </p:cNvSpPr>
          <p:nvPr/>
        </p:nvSpPr>
        <p:spPr bwMode="auto">
          <a:xfrm>
            <a:off x="2285984" y="4664122"/>
            <a:ext cx="457200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auto">
          <a:xfrm>
            <a:off x="0" y="428604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714348" y="3654296"/>
            <a:ext cx="14029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Bitmap </a:t>
            </a:r>
            <a:r>
              <a:rPr lang="ko-KR" altLang="en-US" sz="1600" dirty="0"/>
              <a:t>파일</a:t>
            </a:r>
            <a:r>
              <a:rPr lang="en-US" altLang="ko-KR" sz="1600" dirty="0"/>
              <a:t> </a:t>
            </a:r>
            <a:endParaRPr lang="ko-KR" altLang="en-US" sz="1600" dirty="0"/>
          </a:p>
        </p:txBody>
      </p:sp>
      <p:pic>
        <p:nvPicPr>
          <p:cNvPr id="20" name="Picture 1" descr="작은그림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48" y="4357694"/>
            <a:ext cx="1214446" cy="1127700"/>
          </a:xfrm>
          <a:prstGeom prst="rect">
            <a:avLst/>
          </a:prstGeom>
          <a:noFill/>
        </p:spPr>
      </p:pic>
      <p:sp>
        <p:nvSpPr>
          <p:cNvPr id="3084" name="Rectangle 12"/>
          <p:cNvSpPr>
            <a:spLocks noChangeArrowheads="1"/>
          </p:cNvSpPr>
          <p:nvPr/>
        </p:nvSpPr>
        <p:spPr bwMode="auto">
          <a:xfrm>
            <a:off x="714348" y="5500702"/>
            <a:ext cx="150019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  <a:cs typeface="Times New Roman" pitchFamily="18" charset="0"/>
              </a:rPr>
              <a:t>DICOM File</a:t>
            </a:r>
            <a:endParaRPr kumimoji="1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86116" y="5286388"/>
            <a:ext cx="4560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영상파일 </a:t>
            </a:r>
            <a:r>
              <a:rPr lang="en-US" altLang="ko-KR" dirty="0"/>
              <a:t>+ </a:t>
            </a:r>
            <a:r>
              <a:rPr lang="ko-KR" altLang="en-US" dirty="0"/>
              <a:t>환자이름</a:t>
            </a:r>
            <a:r>
              <a:rPr lang="en-US" altLang="ko-KR" dirty="0"/>
              <a:t>, </a:t>
            </a:r>
            <a:r>
              <a:rPr lang="ko-KR" altLang="en-US" dirty="0"/>
              <a:t>촬영날짜</a:t>
            </a:r>
            <a:r>
              <a:rPr lang="en-US" altLang="ko-KR" dirty="0"/>
              <a:t>, </a:t>
            </a:r>
            <a:r>
              <a:rPr lang="ko-KR" altLang="en-US" dirty="0"/>
              <a:t>촬영장비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428596" y="357166"/>
            <a:ext cx="2377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1. Introduction</a:t>
            </a:r>
            <a:endParaRPr lang="ko-KR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285720" y="1000108"/>
            <a:ext cx="42481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ko-KR" sz="18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1.5 </a:t>
            </a:r>
            <a:r>
              <a:rPr lang="en-US" altLang="ko-KR" sz="1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DICOM</a:t>
            </a:r>
            <a:r>
              <a:rPr lang="ko-KR" altLang="en-US" sz="1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의 필요성</a:t>
            </a:r>
            <a:endParaRPr lang="ko-KR" altLang="en-US" sz="1800" b="1" dirty="0">
              <a:solidFill>
                <a:srgbClr val="FF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2770" name="Group 2"/>
          <p:cNvGrpSpPr>
            <a:grpSpLocks/>
          </p:cNvGrpSpPr>
          <p:nvPr/>
        </p:nvGrpSpPr>
        <p:grpSpPr bwMode="auto">
          <a:xfrm>
            <a:off x="1108076" y="2259348"/>
            <a:ext cx="6821510" cy="4027172"/>
            <a:chOff x="1521" y="5765"/>
            <a:chExt cx="8640" cy="6300"/>
          </a:xfrm>
        </p:grpSpPr>
        <p:pic>
          <p:nvPicPr>
            <p:cNvPr id="32771" name="Picture 3" descr="mri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881" y="6305"/>
              <a:ext cx="1080" cy="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2772" name="Picture 4" descr="ct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881" y="7565"/>
              <a:ext cx="922" cy="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2773" name="Picture 5" descr="초음파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881" y="8825"/>
              <a:ext cx="900" cy="960"/>
            </a:xfrm>
            <a:prstGeom prst="rect">
              <a:avLst/>
            </a:prstGeom>
            <a:noFill/>
          </p:spPr>
        </p:pic>
        <p:pic>
          <p:nvPicPr>
            <p:cNvPr id="32774" name="Picture 6" descr="6-PIVIEWSTANDARD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861" y="6125"/>
              <a:ext cx="1260" cy="816"/>
            </a:xfrm>
            <a:prstGeom prst="rect">
              <a:avLst/>
            </a:prstGeom>
            <a:noFill/>
          </p:spPr>
        </p:pic>
        <p:sp>
          <p:nvSpPr>
            <p:cNvPr id="32775" name="Rectangle 7"/>
            <p:cNvSpPr>
              <a:spLocks noChangeArrowheads="1"/>
            </p:cNvSpPr>
            <p:nvPr/>
          </p:nvSpPr>
          <p:spPr bwMode="auto">
            <a:xfrm>
              <a:off x="1521" y="5765"/>
              <a:ext cx="2147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돋움체" pitchFamily="49" charset="-127"/>
                </a:rPr>
                <a:t>DICOM Modalities</a:t>
              </a: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2776" name="Text Box 8"/>
            <p:cNvSpPr txBox="1">
              <a:spLocks noChangeArrowheads="1"/>
            </p:cNvSpPr>
            <p:nvPr/>
          </p:nvSpPr>
          <p:spPr bwMode="auto">
            <a:xfrm>
              <a:off x="3681" y="5765"/>
              <a:ext cx="1620" cy="3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Viewing System</a:t>
              </a: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pic>
          <p:nvPicPr>
            <p:cNvPr id="32777" name="Picture 9" descr="6-PIVIEWSTANDARD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861" y="7565"/>
              <a:ext cx="1260" cy="816"/>
            </a:xfrm>
            <a:prstGeom prst="rect">
              <a:avLst/>
            </a:prstGeom>
            <a:noFill/>
          </p:spPr>
        </p:pic>
        <p:pic>
          <p:nvPicPr>
            <p:cNvPr id="32778" name="Picture 10" descr="6-PIVIEWSTANDARD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861" y="9005"/>
              <a:ext cx="1260" cy="816"/>
            </a:xfrm>
            <a:prstGeom prst="rect">
              <a:avLst/>
            </a:prstGeom>
            <a:noFill/>
          </p:spPr>
        </p:pic>
        <p:sp>
          <p:nvSpPr>
            <p:cNvPr id="32779" name="Line 11"/>
            <p:cNvSpPr>
              <a:spLocks noChangeShapeType="1"/>
            </p:cNvSpPr>
            <p:nvPr/>
          </p:nvSpPr>
          <p:spPr bwMode="auto">
            <a:xfrm>
              <a:off x="3141" y="6485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780" name="Line 12"/>
            <p:cNvSpPr>
              <a:spLocks noChangeShapeType="1"/>
            </p:cNvSpPr>
            <p:nvPr/>
          </p:nvSpPr>
          <p:spPr bwMode="auto">
            <a:xfrm>
              <a:off x="3141" y="7925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781" name="Line 13"/>
            <p:cNvSpPr>
              <a:spLocks noChangeShapeType="1"/>
            </p:cNvSpPr>
            <p:nvPr/>
          </p:nvSpPr>
          <p:spPr bwMode="auto">
            <a:xfrm>
              <a:off x="3141" y="9365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782" name="Rectangle 14"/>
            <p:cNvSpPr>
              <a:spLocks noChangeArrowheads="1"/>
            </p:cNvSpPr>
            <p:nvPr/>
          </p:nvSpPr>
          <p:spPr bwMode="auto">
            <a:xfrm>
              <a:off x="1521" y="10085"/>
              <a:ext cx="378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돋움체" pitchFamily="49" charset="-127"/>
                </a:rPr>
                <a:t>3</a:t>
              </a:r>
              <a:r>
                <a:rPr kumimoji="1" lang="ko-KR" altLang="en-US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돋움체" pitchFamily="49" charset="-127"/>
                </a:rPr>
                <a:t>개의 </a:t>
              </a:r>
              <a:r>
                <a:rPr kumimoji="1" lang="en-US" altLang="ko-KR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돋움체" pitchFamily="49" charset="-127"/>
                </a:rPr>
                <a:t>Modalities</a:t>
              </a:r>
              <a:r>
                <a:rPr kumimoji="1" lang="ko-KR" altLang="en-US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돋움체" pitchFamily="49" charset="-127"/>
                </a:rPr>
                <a:t>에 </a:t>
              </a:r>
              <a:r>
                <a:rPr kumimoji="1" lang="en-US" altLang="ko-KR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돋움체" pitchFamily="49" charset="-127"/>
                </a:rPr>
                <a:t>3</a:t>
              </a:r>
              <a:r>
                <a:rPr kumimoji="1" lang="ko-KR" altLang="en-US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돋움체" pitchFamily="49" charset="-127"/>
                </a:rPr>
                <a:t>개의 </a:t>
              </a:r>
              <a:r>
                <a:rPr kumimoji="1" lang="en-US" altLang="ko-KR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돋움체" pitchFamily="49" charset="-127"/>
                </a:rPr>
                <a:t>Viewing System </a:t>
              </a:r>
              <a:r>
                <a:rPr kumimoji="1" lang="ko-KR" altLang="en-US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돋움체" pitchFamily="49" charset="-127"/>
                </a:rPr>
                <a:t>필요</a:t>
              </a:r>
              <a:endParaRPr kumimoji="1" 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pic>
          <p:nvPicPr>
            <p:cNvPr id="32783" name="Picture 15" descr="mri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561" y="6125"/>
              <a:ext cx="1080" cy="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2784" name="Picture 16" descr="ct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561" y="7385"/>
              <a:ext cx="922" cy="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2785" name="Picture 17" descr="초음파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561" y="8825"/>
              <a:ext cx="900" cy="960"/>
            </a:xfrm>
            <a:prstGeom prst="rect">
              <a:avLst/>
            </a:prstGeom>
            <a:noFill/>
          </p:spPr>
        </p:pic>
        <p:pic>
          <p:nvPicPr>
            <p:cNvPr id="32786" name="Picture 18" descr="6-PIVIEWSTANDARD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8721" y="7385"/>
              <a:ext cx="1260" cy="816"/>
            </a:xfrm>
            <a:prstGeom prst="rect">
              <a:avLst/>
            </a:prstGeom>
            <a:noFill/>
          </p:spPr>
        </p:pic>
        <p:sp>
          <p:nvSpPr>
            <p:cNvPr id="32787" name="Line 19"/>
            <p:cNvSpPr>
              <a:spLocks noChangeShapeType="1"/>
            </p:cNvSpPr>
            <p:nvPr/>
          </p:nvSpPr>
          <p:spPr bwMode="auto">
            <a:xfrm>
              <a:off x="7641" y="6665"/>
              <a:ext cx="900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788" name="Line 20"/>
            <p:cNvSpPr>
              <a:spLocks noChangeShapeType="1"/>
            </p:cNvSpPr>
            <p:nvPr/>
          </p:nvSpPr>
          <p:spPr bwMode="auto">
            <a:xfrm>
              <a:off x="7641" y="7925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789" name="Line 21"/>
            <p:cNvSpPr>
              <a:spLocks noChangeShapeType="1"/>
            </p:cNvSpPr>
            <p:nvPr/>
          </p:nvSpPr>
          <p:spPr bwMode="auto">
            <a:xfrm flipV="1">
              <a:off x="7821" y="8105"/>
              <a:ext cx="720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790" name="Rectangle 22"/>
            <p:cNvSpPr>
              <a:spLocks noChangeArrowheads="1"/>
            </p:cNvSpPr>
            <p:nvPr/>
          </p:nvSpPr>
          <p:spPr bwMode="auto">
            <a:xfrm>
              <a:off x="6021" y="10085"/>
              <a:ext cx="378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돋움체" pitchFamily="49" charset="-127"/>
                </a:rPr>
                <a:t>3</a:t>
              </a:r>
              <a:r>
                <a:rPr kumimoji="1" lang="ko-KR" altLang="en-US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돋움체" pitchFamily="49" charset="-127"/>
                </a:rPr>
                <a:t>개의 </a:t>
              </a:r>
              <a:r>
                <a:rPr kumimoji="1" lang="en-US" altLang="ko-KR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돋움체" pitchFamily="49" charset="-127"/>
                </a:rPr>
                <a:t>Modalities</a:t>
              </a:r>
              <a:r>
                <a:rPr kumimoji="1" lang="ko-KR" altLang="en-US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돋움체" pitchFamily="49" charset="-127"/>
                </a:rPr>
                <a:t>에 </a:t>
              </a:r>
              <a:r>
                <a:rPr kumimoji="1" lang="en-US" altLang="ko-KR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돋움체" pitchFamily="49" charset="-127"/>
                </a:rPr>
                <a:t>1</a:t>
              </a:r>
              <a:r>
                <a:rPr kumimoji="1" lang="ko-KR" altLang="en-US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돋움체" pitchFamily="49" charset="-127"/>
                </a:rPr>
                <a:t>개의 </a:t>
              </a:r>
              <a:r>
                <a:rPr kumimoji="1" lang="en-US" altLang="ko-KR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돋움체" pitchFamily="49" charset="-127"/>
                </a:rPr>
                <a:t>Viewing System</a:t>
              </a:r>
              <a:r>
                <a:rPr kumimoji="1" lang="ko-KR" altLang="en-US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돋움체" pitchFamily="49" charset="-127"/>
                </a:rPr>
                <a:t>만 필요</a:t>
              </a:r>
              <a:endParaRPr kumimoji="1" 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2791" name="Line 23"/>
            <p:cNvSpPr>
              <a:spLocks noChangeShapeType="1"/>
            </p:cNvSpPr>
            <p:nvPr/>
          </p:nvSpPr>
          <p:spPr bwMode="auto">
            <a:xfrm>
              <a:off x="5481" y="7745"/>
              <a:ext cx="720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792" name="Rectangle 24"/>
            <p:cNvSpPr>
              <a:spLocks noChangeArrowheads="1"/>
            </p:cNvSpPr>
            <p:nvPr/>
          </p:nvSpPr>
          <p:spPr bwMode="auto">
            <a:xfrm>
              <a:off x="6021" y="5765"/>
              <a:ext cx="2147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돋움체" pitchFamily="49" charset="-127"/>
                </a:rPr>
                <a:t>DICOM Modalities</a:t>
              </a: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2793" name="Text Box 25"/>
            <p:cNvSpPr txBox="1">
              <a:spLocks noChangeArrowheads="1"/>
            </p:cNvSpPr>
            <p:nvPr/>
          </p:nvSpPr>
          <p:spPr bwMode="auto">
            <a:xfrm>
              <a:off x="8541" y="5765"/>
              <a:ext cx="1620" cy="3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Viewing System</a:t>
              </a: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2794" name="Text Box 26"/>
            <p:cNvSpPr txBox="1">
              <a:spLocks noChangeArrowheads="1"/>
            </p:cNvSpPr>
            <p:nvPr/>
          </p:nvSpPr>
          <p:spPr bwMode="auto">
            <a:xfrm>
              <a:off x="5301" y="8105"/>
              <a:ext cx="1080" cy="5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400" b="1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How?</a:t>
              </a: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2795" name="Line 27"/>
            <p:cNvSpPr>
              <a:spLocks noChangeShapeType="1"/>
            </p:cNvSpPr>
            <p:nvPr/>
          </p:nvSpPr>
          <p:spPr bwMode="auto">
            <a:xfrm>
              <a:off x="5841" y="8645"/>
              <a:ext cx="0" cy="270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796" name="Text Box 28"/>
            <p:cNvSpPr txBox="1">
              <a:spLocks noChangeArrowheads="1"/>
            </p:cNvSpPr>
            <p:nvPr/>
          </p:nvSpPr>
          <p:spPr bwMode="auto">
            <a:xfrm>
              <a:off x="2601" y="11345"/>
              <a:ext cx="648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각 </a:t>
              </a:r>
              <a:r>
                <a:rPr kumimoji="1" lang="ko-KR" altLang="en-US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영상 장비 간의 </a:t>
              </a:r>
              <a:r>
                <a:rPr kumimoji="1" lang="ko-KR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상호 연동을 위한 </a:t>
              </a:r>
              <a:r>
                <a:rPr kumimoji="1" lang="ko-KR" altLang="en-US" sz="16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표준화</a:t>
              </a:r>
              <a:endParaRPr kumimoji="1" 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428596" y="357166"/>
            <a:ext cx="2377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1. Introduction</a:t>
            </a:r>
            <a:endParaRPr lang="ko-KR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357158" y="1000108"/>
            <a:ext cx="42481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ko-KR" sz="18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1.6 </a:t>
            </a:r>
            <a:r>
              <a:rPr lang="ko-KR" altLang="en-US" sz="1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통신</a:t>
            </a:r>
            <a:r>
              <a:rPr lang="en-US" altLang="ko-KR" sz="1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protocol </a:t>
            </a:r>
            <a:r>
              <a:rPr lang="ko-KR" altLang="en-US" sz="1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표준화</a:t>
            </a:r>
            <a:endParaRPr lang="ko-KR" altLang="en-US" sz="1800" b="1" dirty="0">
              <a:solidFill>
                <a:srgbClr val="FF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40962" name="Group 2"/>
          <p:cNvGrpSpPr>
            <a:grpSpLocks/>
          </p:cNvGrpSpPr>
          <p:nvPr/>
        </p:nvGrpSpPr>
        <p:grpSpPr bwMode="auto">
          <a:xfrm>
            <a:off x="1285852" y="2571744"/>
            <a:ext cx="7000924" cy="3429000"/>
            <a:chOff x="1701" y="2488"/>
            <a:chExt cx="8280" cy="4680"/>
          </a:xfrm>
        </p:grpSpPr>
        <p:grpSp>
          <p:nvGrpSpPr>
            <p:cNvPr id="40963" name="Group 3"/>
            <p:cNvGrpSpPr>
              <a:grpSpLocks/>
            </p:cNvGrpSpPr>
            <p:nvPr/>
          </p:nvGrpSpPr>
          <p:grpSpPr bwMode="auto">
            <a:xfrm>
              <a:off x="1701" y="2488"/>
              <a:ext cx="7560" cy="1440"/>
              <a:chOff x="1701" y="2885"/>
              <a:chExt cx="7560" cy="1440"/>
            </a:xfrm>
          </p:grpSpPr>
          <p:pic>
            <p:nvPicPr>
              <p:cNvPr id="40964" name="Picture 4" descr="mri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701" y="3245"/>
                <a:ext cx="1080" cy="9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40965" name="Picture 5" descr="ct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2781" y="3245"/>
                <a:ext cx="922" cy="9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40966" name="Picture 6" descr="초음파1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4041" y="3245"/>
                <a:ext cx="720" cy="960"/>
              </a:xfrm>
              <a:prstGeom prst="rect">
                <a:avLst/>
              </a:prstGeom>
              <a:noFill/>
            </p:spPr>
          </p:pic>
          <p:pic>
            <p:nvPicPr>
              <p:cNvPr id="40967" name="Picture 7" descr="6-PIVIEWSTANDARD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5661" y="3425"/>
                <a:ext cx="1260" cy="816"/>
              </a:xfrm>
              <a:prstGeom prst="rect">
                <a:avLst/>
              </a:prstGeom>
              <a:noFill/>
            </p:spPr>
          </p:pic>
          <p:sp>
            <p:nvSpPr>
              <p:cNvPr id="40968" name="Rectangle 8"/>
              <p:cNvSpPr>
                <a:spLocks noChangeArrowheads="1"/>
              </p:cNvSpPr>
              <p:nvPr/>
            </p:nvSpPr>
            <p:spPr bwMode="auto">
              <a:xfrm>
                <a:off x="2421" y="2885"/>
                <a:ext cx="2147" cy="3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2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Verdana" pitchFamily="34" charset="0"/>
                    <a:ea typeface="돋움체" pitchFamily="49" charset="-127"/>
                  </a:rPr>
                  <a:t>DICOM Modalities</a:t>
                </a:r>
                <a:endParaRPr kumimoji="1" lang="ko-KR" altLang="ko-KR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40969" name="Text Box 9"/>
              <p:cNvSpPr txBox="1">
                <a:spLocks noChangeArrowheads="1"/>
              </p:cNvSpPr>
              <p:nvPr/>
            </p:nvSpPr>
            <p:spPr bwMode="auto">
              <a:xfrm>
                <a:off x="5481" y="2885"/>
                <a:ext cx="1620" cy="36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</a:rPr>
                  <a:t>Viewing System</a:t>
                </a:r>
                <a:endParaRPr kumimoji="1" lang="ko-KR" altLang="ko-KR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굴림" pitchFamily="50" charset="-127"/>
                  <a:ea typeface="굴림" pitchFamily="50" charset="-127"/>
                </a:endParaRPr>
              </a:p>
            </p:txBody>
          </p:sp>
          <p:pic>
            <p:nvPicPr>
              <p:cNvPr id="40970" name="Picture 10" descr="read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7821" y="3245"/>
                <a:ext cx="832" cy="1080"/>
              </a:xfrm>
              <a:prstGeom prst="rect">
                <a:avLst/>
              </a:prstGeom>
              <a:noFill/>
            </p:spPr>
          </p:pic>
          <p:sp>
            <p:nvSpPr>
              <p:cNvPr id="40971" name="Text Box 11"/>
              <p:cNvSpPr txBox="1">
                <a:spLocks noChangeArrowheads="1"/>
              </p:cNvSpPr>
              <p:nvPr/>
            </p:nvSpPr>
            <p:spPr bwMode="auto">
              <a:xfrm>
                <a:off x="7641" y="2885"/>
                <a:ext cx="1620" cy="36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</a:rPr>
                  <a:t>Digital Archive</a:t>
                </a:r>
                <a:endParaRPr kumimoji="1" lang="ko-KR" altLang="ko-KR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굴림" pitchFamily="50" charset="-127"/>
                  <a:ea typeface="굴림" pitchFamily="50" charset="-127"/>
                </a:endParaRPr>
              </a:p>
            </p:txBody>
          </p:sp>
        </p:grpSp>
        <p:pic>
          <p:nvPicPr>
            <p:cNvPr id="40972" name="Picture 12" descr="print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2421" y="5908"/>
              <a:ext cx="900" cy="829"/>
            </a:xfrm>
            <a:prstGeom prst="rect">
              <a:avLst/>
            </a:prstGeom>
            <a:noFill/>
          </p:spPr>
        </p:pic>
        <p:sp>
          <p:nvSpPr>
            <p:cNvPr id="40973" name="Text Box 13"/>
            <p:cNvSpPr txBox="1">
              <a:spLocks noChangeArrowheads="1"/>
            </p:cNvSpPr>
            <p:nvPr/>
          </p:nvSpPr>
          <p:spPr bwMode="auto">
            <a:xfrm>
              <a:off x="2421" y="6808"/>
              <a:ext cx="900" cy="3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Printer</a:t>
              </a:r>
              <a:endParaRPr kumimoji="1" lang="ko-KR" altLang="ko-K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pic>
          <p:nvPicPr>
            <p:cNvPr id="40974" name="Picture 14" descr="cd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3861" y="5908"/>
              <a:ext cx="1260" cy="507"/>
            </a:xfrm>
            <a:prstGeom prst="rect">
              <a:avLst/>
            </a:prstGeom>
            <a:noFill/>
          </p:spPr>
        </p:pic>
        <p:sp>
          <p:nvSpPr>
            <p:cNvPr id="40975" name="Text Box 15"/>
            <p:cNvSpPr txBox="1">
              <a:spLocks noChangeArrowheads="1"/>
            </p:cNvSpPr>
            <p:nvPr/>
          </p:nvSpPr>
          <p:spPr bwMode="auto">
            <a:xfrm>
              <a:off x="3861" y="6808"/>
              <a:ext cx="1080" cy="3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CD Writer</a:t>
              </a:r>
              <a:endParaRPr kumimoji="1" lang="ko-KR" altLang="ko-K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pic>
          <p:nvPicPr>
            <p:cNvPr id="40976" name="Picture 16" descr="switch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7821" y="5908"/>
              <a:ext cx="1440" cy="630"/>
            </a:xfrm>
            <a:prstGeom prst="rect">
              <a:avLst/>
            </a:prstGeom>
            <a:noFill/>
          </p:spPr>
        </p:pic>
        <p:sp>
          <p:nvSpPr>
            <p:cNvPr id="40977" name="Text Box 17"/>
            <p:cNvSpPr txBox="1">
              <a:spLocks noChangeArrowheads="1"/>
            </p:cNvSpPr>
            <p:nvPr/>
          </p:nvSpPr>
          <p:spPr bwMode="auto">
            <a:xfrm>
              <a:off x="7641" y="6628"/>
              <a:ext cx="1980" cy="5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Connection to Other Network</a:t>
              </a:r>
            </a:p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ko-K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0978" name="Text Box 18"/>
            <p:cNvSpPr txBox="1">
              <a:spLocks noChangeArrowheads="1"/>
            </p:cNvSpPr>
            <p:nvPr/>
          </p:nvSpPr>
          <p:spPr bwMode="auto">
            <a:xfrm>
              <a:off x="1701" y="4648"/>
              <a:ext cx="8280" cy="540"/>
            </a:xfrm>
            <a:prstGeom prst="rect">
              <a:avLst/>
            </a:prstGeom>
            <a:solidFill>
              <a:srgbClr val="C0C0C0">
                <a:alpha val="50000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DICOM (Network)</a:t>
              </a:r>
              <a:endParaRPr kumimoji="1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0979" name="Line 19"/>
            <p:cNvSpPr>
              <a:spLocks noChangeShapeType="1"/>
            </p:cNvSpPr>
            <p:nvPr/>
          </p:nvSpPr>
          <p:spPr bwMode="auto">
            <a:xfrm>
              <a:off x="4401" y="5188"/>
              <a:ext cx="0" cy="540"/>
            </a:xfrm>
            <a:prstGeom prst="line">
              <a:avLst/>
            </a:prstGeom>
            <a:noFill/>
            <a:ln w="76200">
              <a:solidFill>
                <a:srgbClr val="C0C0C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200"/>
            </a:p>
          </p:txBody>
        </p:sp>
        <p:sp>
          <p:nvSpPr>
            <p:cNvPr id="40980" name="Line 20"/>
            <p:cNvSpPr>
              <a:spLocks noChangeShapeType="1"/>
            </p:cNvSpPr>
            <p:nvPr/>
          </p:nvSpPr>
          <p:spPr bwMode="auto">
            <a:xfrm>
              <a:off x="8361" y="5188"/>
              <a:ext cx="0" cy="540"/>
            </a:xfrm>
            <a:prstGeom prst="line">
              <a:avLst/>
            </a:prstGeom>
            <a:noFill/>
            <a:ln w="76200">
              <a:solidFill>
                <a:srgbClr val="C0C0C0"/>
              </a:solidFill>
              <a:round/>
              <a:headEnd/>
              <a:tailEnd/>
            </a:ln>
            <a:effectLst/>
          </p:spPr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200"/>
            </a:p>
          </p:txBody>
        </p:sp>
        <p:sp>
          <p:nvSpPr>
            <p:cNvPr id="40981" name="Line 21"/>
            <p:cNvSpPr>
              <a:spLocks noChangeShapeType="1"/>
            </p:cNvSpPr>
            <p:nvPr/>
          </p:nvSpPr>
          <p:spPr bwMode="auto">
            <a:xfrm>
              <a:off x="3141" y="5188"/>
              <a:ext cx="0" cy="540"/>
            </a:xfrm>
            <a:prstGeom prst="line">
              <a:avLst/>
            </a:prstGeom>
            <a:noFill/>
            <a:ln w="76200">
              <a:solidFill>
                <a:srgbClr val="C0C0C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200"/>
            </a:p>
          </p:txBody>
        </p:sp>
        <p:sp>
          <p:nvSpPr>
            <p:cNvPr id="40982" name="Line 22"/>
            <p:cNvSpPr>
              <a:spLocks noChangeShapeType="1"/>
            </p:cNvSpPr>
            <p:nvPr/>
          </p:nvSpPr>
          <p:spPr bwMode="auto">
            <a:xfrm>
              <a:off x="2061" y="4108"/>
              <a:ext cx="0" cy="540"/>
            </a:xfrm>
            <a:prstGeom prst="line">
              <a:avLst/>
            </a:prstGeom>
            <a:noFill/>
            <a:ln w="76200">
              <a:solidFill>
                <a:srgbClr val="C0C0C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200"/>
            </a:p>
          </p:txBody>
        </p:sp>
        <p:sp>
          <p:nvSpPr>
            <p:cNvPr id="40983" name="Line 23"/>
            <p:cNvSpPr>
              <a:spLocks noChangeShapeType="1"/>
            </p:cNvSpPr>
            <p:nvPr/>
          </p:nvSpPr>
          <p:spPr bwMode="auto">
            <a:xfrm>
              <a:off x="3141" y="4108"/>
              <a:ext cx="0" cy="540"/>
            </a:xfrm>
            <a:prstGeom prst="line">
              <a:avLst/>
            </a:prstGeom>
            <a:noFill/>
            <a:ln w="76200">
              <a:solidFill>
                <a:srgbClr val="C0C0C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200"/>
            </a:p>
          </p:txBody>
        </p:sp>
        <p:sp>
          <p:nvSpPr>
            <p:cNvPr id="40984" name="Line 24"/>
            <p:cNvSpPr>
              <a:spLocks noChangeShapeType="1"/>
            </p:cNvSpPr>
            <p:nvPr/>
          </p:nvSpPr>
          <p:spPr bwMode="auto">
            <a:xfrm>
              <a:off x="4401" y="4108"/>
              <a:ext cx="0" cy="540"/>
            </a:xfrm>
            <a:prstGeom prst="line">
              <a:avLst/>
            </a:prstGeom>
            <a:noFill/>
            <a:ln w="76200">
              <a:solidFill>
                <a:srgbClr val="C0C0C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200"/>
            </a:p>
          </p:txBody>
        </p:sp>
        <p:sp>
          <p:nvSpPr>
            <p:cNvPr id="40985" name="Line 25"/>
            <p:cNvSpPr>
              <a:spLocks noChangeShapeType="1"/>
            </p:cNvSpPr>
            <p:nvPr/>
          </p:nvSpPr>
          <p:spPr bwMode="auto">
            <a:xfrm>
              <a:off x="6201" y="4108"/>
              <a:ext cx="0" cy="540"/>
            </a:xfrm>
            <a:prstGeom prst="line">
              <a:avLst/>
            </a:prstGeom>
            <a:noFill/>
            <a:ln w="76200">
              <a:solidFill>
                <a:srgbClr val="C0C0C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200"/>
            </a:p>
          </p:txBody>
        </p:sp>
        <p:sp>
          <p:nvSpPr>
            <p:cNvPr id="40986" name="Line 26"/>
            <p:cNvSpPr>
              <a:spLocks noChangeShapeType="1"/>
            </p:cNvSpPr>
            <p:nvPr/>
          </p:nvSpPr>
          <p:spPr bwMode="auto">
            <a:xfrm>
              <a:off x="8361" y="4108"/>
              <a:ext cx="0" cy="540"/>
            </a:xfrm>
            <a:prstGeom prst="line">
              <a:avLst/>
            </a:prstGeom>
            <a:noFill/>
            <a:ln w="76200">
              <a:solidFill>
                <a:srgbClr val="C0C0C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20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428596" y="357166"/>
            <a:ext cx="30644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. DICOM Concepts</a:t>
            </a:r>
            <a:endParaRPr lang="ko-KR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285720" y="1000108"/>
            <a:ext cx="65905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2.1.1 Information </a:t>
            </a:r>
            <a:r>
              <a:rPr lang="en-US" altLang="ko-KR" sz="18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Object Definition (IOD) - Class </a:t>
            </a:r>
            <a:r>
              <a:rPr lang="ko-KR" altLang="en-US" sz="18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정의</a:t>
            </a:r>
            <a:endParaRPr lang="ko-KR" altLang="en-US" sz="1800" b="1" dirty="0">
              <a:solidFill>
                <a:srgbClr val="FF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57" name="표 56"/>
          <p:cNvGraphicFramePr>
            <a:graphicFrameLocks noGrp="1"/>
          </p:cNvGraphicFramePr>
          <p:nvPr/>
        </p:nvGraphicFramePr>
        <p:xfrm>
          <a:off x="357158" y="2357430"/>
          <a:ext cx="3857620" cy="2714644"/>
        </p:xfrm>
        <a:graphic>
          <a:graphicData uri="http://schemas.openxmlformats.org/drawingml/2006/table">
            <a:tbl>
              <a:tblPr/>
              <a:tblGrid>
                <a:gridCol w="928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1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8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119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돋움"/>
                          <a:ea typeface="바탕체"/>
                          <a:cs typeface="Times New Roman"/>
                        </a:rPr>
                        <a:t>Information Object</a:t>
                      </a:r>
                      <a:endParaRPr lang="ko-KR" sz="1200" kern="100" dirty="0">
                        <a:latin typeface="Times New Roman"/>
                        <a:ea typeface="바탕체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latin typeface="돋움"/>
                          <a:ea typeface="바탕체"/>
                          <a:cs typeface="Times New Roman"/>
                        </a:rPr>
                        <a:t>Information Entities</a:t>
                      </a:r>
                      <a:endParaRPr lang="ko-KR" sz="1200" kern="100">
                        <a:latin typeface="Times New Roman"/>
                        <a:ea typeface="바탕체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latin typeface="돋움"/>
                          <a:ea typeface="바탕체"/>
                          <a:cs typeface="Times New Roman"/>
                        </a:rPr>
                        <a:t>Modules</a:t>
                      </a:r>
                      <a:endParaRPr lang="ko-KR" sz="1200" kern="100">
                        <a:latin typeface="Times New Roman"/>
                        <a:ea typeface="바탕체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latin typeface="돋움"/>
                          <a:ea typeface="바탕체"/>
                          <a:cs typeface="Times New Roman"/>
                        </a:rPr>
                        <a:t>Attributes</a:t>
                      </a:r>
                      <a:endParaRPr lang="ko-KR" sz="1200" kern="100">
                        <a:latin typeface="Times New Roman"/>
                        <a:ea typeface="바탕체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193">
                <a:tc rowSpan="6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latin typeface="Times New Roman"/>
                          <a:ea typeface="바탕체"/>
                          <a:cs typeface="Times New Roman"/>
                        </a:rPr>
                        <a:t>MR Image</a:t>
                      </a:r>
                      <a:endParaRPr lang="ko-KR" sz="1200" kern="100" dirty="0">
                        <a:latin typeface="Times New Roman"/>
                        <a:ea typeface="바탕체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kern="100">
                          <a:latin typeface="Times New Roman"/>
                          <a:ea typeface="바탕체"/>
                          <a:cs typeface="Times New Roman"/>
                        </a:rPr>
                        <a:t>검사정보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latin typeface="Times New Roman"/>
                          <a:ea typeface="바탕체"/>
                          <a:cs typeface="Times New Roman"/>
                        </a:rPr>
                        <a:t>일자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latin typeface="Times New Roman"/>
                          <a:ea typeface="바탕체"/>
                          <a:cs typeface="Times New Roman"/>
                        </a:rPr>
                        <a:t>2013.3.26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kern="100">
                          <a:latin typeface="Times New Roman"/>
                          <a:ea typeface="바탕체"/>
                          <a:cs typeface="Times New Roman"/>
                        </a:rPr>
                        <a:t>장비종류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Times New Roman"/>
                          <a:ea typeface="바탕체"/>
                          <a:cs typeface="Times New Roman"/>
                        </a:rPr>
                        <a:t>A</a:t>
                      </a:r>
                      <a:r>
                        <a:rPr lang="ko-KR" sz="1200" kern="100">
                          <a:latin typeface="Times New Roman"/>
                          <a:ea typeface="바탕체"/>
                          <a:cs typeface="Times New Roman"/>
                        </a:rPr>
                        <a:t>사</a:t>
                      </a:r>
                      <a:r>
                        <a:rPr lang="en-US" sz="1200" kern="100">
                          <a:latin typeface="Times New Roman"/>
                          <a:ea typeface="바탕체"/>
                          <a:cs typeface="Times New Roman"/>
                        </a:rPr>
                        <a:t> CT</a:t>
                      </a:r>
                      <a:endParaRPr lang="ko-KR" sz="1200" kern="100">
                        <a:latin typeface="Times New Roman"/>
                        <a:ea typeface="바탕체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kern="100">
                          <a:latin typeface="Times New Roman"/>
                          <a:ea typeface="바탕체"/>
                          <a:cs typeface="Times New Roman"/>
                        </a:rPr>
                        <a:t>촬영부위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Times New Roman"/>
                          <a:ea typeface="바탕체"/>
                          <a:cs typeface="Times New Roman"/>
                        </a:rPr>
                        <a:t>Brain</a:t>
                      </a:r>
                      <a:endParaRPr lang="ko-KR" sz="1200" kern="100">
                        <a:latin typeface="Times New Roman"/>
                        <a:ea typeface="바탕체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1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latin typeface="Times New Roman"/>
                          <a:ea typeface="바탕체"/>
                          <a:cs typeface="Times New Roman"/>
                        </a:rPr>
                        <a:t>환자정보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kern="100">
                          <a:latin typeface="Times New Roman"/>
                          <a:ea typeface="바탕체"/>
                          <a:cs typeface="Times New Roman"/>
                        </a:rPr>
                        <a:t>나이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Times New Roman"/>
                          <a:ea typeface="바탕체"/>
                          <a:cs typeface="Times New Roman"/>
                        </a:rPr>
                        <a:t>30</a:t>
                      </a:r>
                      <a:r>
                        <a:rPr lang="ko-KR" sz="1200" kern="100">
                          <a:latin typeface="Times New Roman"/>
                          <a:ea typeface="바탕체"/>
                          <a:cs typeface="Times New Roman"/>
                        </a:rPr>
                        <a:t>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1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kern="100">
                          <a:latin typeface="Times New Roman"/>
                          <a:ea typeface="바탕체"/>
                          <a:cs typeface="Times New Roman"/>
                        </a:rPr>
                        <a:t>체중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Times New Roman"/>
                          <a:ea typeface="바탕체"/>
                          <a:cs typeface="Times New Roman"/>
                        </a:rPr>
                        <a:t>75Kg</a:t>
                      </a:r>
                      <a:endParaRPr lang="ko-KR" sz="1200" kern="100">
                        <a:latin typeface="Times New Roman"/>
                        <a:ea typeface="바탕체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6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kern="100">
                          <a:latin typeface="Times New Roman"/>
                          <a:ea typeface="바탕체"/>
                          <a:cs typeface="Times New Roman"/>
                        </a:rPr>
                        <a:t>이름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latin typeface="Times New Roman"/>
                          <a:ea typeface="바탕체"/>
                          <a:cs typeface="Times New Roman"/>
                        </a:rPr>
                        <a:t>홍길동</a:t>
                      </a:r>
                      <a:endParaRPr lang="en-US" sz="1200" kern="100" dirty="0">
                        <a:latin typeface="Times New Roman"/>
                        <a:ea typeface="바탕체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8" name="Picture 2" descr="Composite image IO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57686" y="1857364"/>
            <a:ext cx="4381500" cy="423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500034" y="357166"/>
            <a:ext cx="30644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. DICOM Concepts</a:t>
            </a:r>
            <a:endParaRPr lang="ko-KR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357158" y="1000108"/>
            <a:ext cx="42481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ko-KR" sz="1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2.1.2 </a:t>
            </a:r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Attributes</a:t>
            </a:r>
            <a:endParaRPr lang="ko-KR" altLang="en-US" sz="1800" b="1" dirty="0">
              <a:solidFill>
                <a:srgbClr val="FF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11431" y="1916832"/>
            <a:ext cx="7387754" cy="4200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2000" b="1" dirty="0"/>
              <a:t>Unique Attribute Name (human readable)</a:t>
            </a:r>
            <a:endParaRPr lang="ko-KR" altLang="en-US" sz="2000" b="1" dirty="0"/>
          </a:p>
          <a:p>
            <a:pPr lvl="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2000" b="1" dirty="0"/>
              <a:t>Unique Attribute Tag (information system readable)</a:t>
            </a:r>
            <a:endParaRPr lang="ko-KR" altLang="en-US" sz="2000" b="1" dirty="0"/>
          </a:p>
          <a:p>
            <a:pPr lvl="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2000" b="1" dirty="0"/>
              <a:t>Attribute Description (semantics)</a:t>
            </a:r>
            <a:endParaRPr lang="ko-KR" altLang="en-US" sz="2000" b="1" dirty="0"/>
          </a:p>
          <a:p>
            <a:pPr lvl="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2000" b="1" dirty="0"/>
              <a:t>Type classification : 1, 1C, 2, 2C</a:t>
            </a:r>
            <a:r>
              <a:rPr lang="en-US" sz="2000" b="1"/>
              <a:t>, 3</a:t>
            </a:r>
          </a:p>
          <a:p>
            <a:pPr lvl="1">
              <a:lnSpc>
                <a:spcPct val="150000"/>
              </a:lnSpc>
            </a:pPr>
            <a:r>
              <a:rPr lang="en-US" altLang="ko-KR" sz="1400" b="1"/>
              <a:t>1: </a:t>
            </a:r>
            <a:r>
              <a:rPr lang="ko-KR" altLang="en-US" sz="1400" b="1"/>
              <a:t>필수</a:t>
            </a:r>
            <a:r>
              <a:rPr lang="en-US" altLang="ko-KR" sz="1400" b="1"/>
              <a:t>, Element</a:t>
            </a:r>
            <a:r>
              <a:rPr lang="ko-KR" altLang="en-US" sz="1400" b="1"/>
              <a:t>도 있고</a:t>
            </a:r>
            <a:r>
              <a:rPr lang="en-US" altLang="ko-KR" sz="1400" b="1"/>
              <a:t> </a:t>
            </a:r>
            <a:r>
              <a:rPr lang="ko-KR" altLang="en-US" sz="1400" b="1"/>
              <a:t>값도 있어야 함</a:t>
            </a:r>
            <a:endParaRPr lang="en-US" altLang="ko-KR" sz="1400" b="1"/>
          </a:p>
          <a:p>
            <a:pPr lvl="1">
              <a:lnSpc>
                <a:spcPct val="150000"/>
              </a:lnSpc>
            </a:pPr>
            <a:r>
              <a:rPr lang="en-US" altLang="ko-KR" sz="1400" b="1"/>
              <a:t>1C: </a:t>
            </a:r>
            <a:r>
              <a:rPr lang="ko-KR" altLang="en-US" sz="1400" b="1"/>
              <a:t>조건에 따라 없어도 되나 있어야 하면 </a:t>
            </a:r>
            <a:r>
              <a:rPr lang="en-US" altLang="ko-KR" sz="1400" b="1"/>
              <a:t>1</a:t>
            </a:r>
            <a:r>
              <a:rPr lang="ko-KR" altLang="en-US" sz="1400" b="1"/>
              <a:t>의 조건</a:t>
            </a:r>
            <a:endParaRPr lang="en-US" altLang="ko-KR" sz="1400" b="1"/>
          </a:p>
          <a:p>
            <a:pPr lvl="1">
              <a:lnSpc>
                <a:spcPct val="150000"/>
              </a:lnSpc>
            </a:pPr>
            <a:r>
              <a:rPr lang="en-US" altLang="ko-KR" sz="1400" b="1"/>
              <a:t>2: </a:t>
            </a:r>
            <a:r>
              <a:rPr lang="ko-KR" altLang="en-US" sz="1400" b="1"/>
              <a:t>필수</a:t>
            </a:r>
            <a:r>
              <a:rPr lang="en-US" altLang="ko-KR" sz="1400" b="1"/>
              <a:t>, Element</a:t>
            </a:r>
            <a:r>
              <a:rPr lang="ko-KR" altLang="en-US" sz="1400" b="1"/>
              <a:t>가 있어야 하나 값은 없어도 됨</a:t>
            </a:r>
            <a:endParaRPr lang="en-US" altLang="ko-KR" sz="1400" b="1"/>
          </a:p>
          <a:p>
            <a:pPr lvl="1">
              <a:lnSpc>
                <a:spcPct val="150000"/>
              </a:lnSpc>
            </a:pPr>
            <a:r>
              <a:rPr lang="en-US" altLang="ko-KR" sz="1400" b="1"/>
              <a:t>2C: </a:t>
            </a:r>
            <a:r>
              <a:rPr lang="ko-KR" altLang="en-US" sz="1400" b="1"/>
              <a:t>조건에 따라 없어도 되나 있어야 하면 </a:t>
            </a:r>
            <a:r>
              <a:rPr lang="en-US" altLang="ko-KR" sz="1400" b="1"/>
              <a:t>2</a:t>
            </a:r>
            <a:r>
              <a:rPr lang="ko-KR" altLang="en-US" sz="1400" b="1"/>
              <a:t>의 조건</a:t>
            </a:r>
            <a:endParaRPr lang="en-US" altLang="ko-KR" sz="1400" b="1"/>
          </a:p>
          <a:p>
            <a:pPr lvl="1">
              <a:lnSpc>
                <a:spcPct val="200000"/>
              </a:lnSpc>
            </a:pPr>
            <a:r>
              <a:rPr lang="en-US" altLang="ko-KR" sz="1400" b="1"/>
              <a:t>3: </a:t>
            </a:r>
            <a:r>
              <a:rPr lang="ko-KR" altLang="en-US" sz="1400" b="1"/>
              <a:t>선택</a:t>
            </a:r>
            <a:r>
              <a:rPr lang="en-US" altLang="ko-KR" sz="1400" b="1"/>
              <a:t>, Element</a:t>
            </a:r>
            <a:r>
              <a:rPr lang="ko-KR" altLang="en-US" sz="1400" b="1"/>
              <a:t>가 없어도 됨</a:t>
            </a:r>
            <a:r>
              <a:rPr lang="en-US" altLang="ko-KR" sz="1400" b="1"/>
              <a:t>, </a:t>
            </a:r>
            <a:r>
              <a:rPr lang="ko-KR" altLang="en-US" sz="1400" b="1"/>
              <a:t>있어도 값이 없어도 됨</a:t>
            </a:r>
            <a:endParaRPr lang="ko-KR" altLang="en-US" sz="14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500034" y="357166"/>
            <a:ext cx="30644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. DICOM Concepts</a:t>
            </a:r>
            <a:endParaRPr lang="ko-KR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285720" y="1000108"/>
            <a:ext cx="723860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2.1.3 </a:t>
            </a:r>
            <a:r>
              <a:rPr lang="en-US" b="1" dirty="0"/>
              <a:t>DICOM Service Element (</a:t>
            </a:r>
            <a:r>
              <a:rPr lang="en-US" b="1"/>
              <a:t>DIMSE) - </a:t>
            </a:r>
            <a:r>
              <a:rPr lang="ko-KR" altLang="en-US" b="1"/>
              <a:t>서비스 </a:t>
            </a:r>
            <a:r>
              <a:rPr lang="en-US" altLang="ko-KR" b="1"/>
              <a:t>(</a:t>
            </a:r>
            <a:r>
              <a:rPr lang="en-US" b="1"/>
              <a:t>Method) </a:t>
            </a:r>
            <a:r>
              <a:rPr lang="ko-KR" altLang="en-US" b="1"/>
              <a:t>정의</a:t>
            </a:r>
            <a:endParaRPr lang="ko-KR" altLang="en-US" b="1" dirty="0"/>
          </a:p>
        </p:txBody>
      </p:sp>
      <p:sp>
        <p:nvSpPr>
          <p:cNvPr id="5" name="직사각형 4"/>
          <p:cNvSpPr/>
          <p:nvPr/>
        </p:nvSpPr>
        <p:spPr>
          <a:xfrm>
            <a:off x="714348" y="1785926"/>
            <a:ext cx="72866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- DIMSE</a:t>
            </a:r>
            <a:r>
              <a:rPr lang="ko-KR" altLang="en-US" dirty="0"/>
              <a:t>는  </a:t>
            </a:r>
            <a:r>
              <a:rPr lang="en-US" dirty="0"/>
              <a:t>IOD</a:t>
            </a:r>
            <a:r>
              <a:rPr lang="ko-KR" altLang="en-US" dirty="0"/>
              <a:t>를 가지고 할 수 있는 모든 행위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 C-Service : Image</a:t>
            </a:r>
            <a:r>
              <a:rPr lang="ko-KR" altLang="en-US" dirty="0"/>
              <a:t>와 같이 복합된 정보를가지고 있는 것의 행위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 N-Service : </a:t>
            </a:r>
            <a:r>
              <a:rPr lang="ko-KR" altLang="en-US" dirty="0"/>
              <a:t>단일한 정보만을 가지고 있는 것에 대한 행위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857356" y="3357562"/>
          <a:ext cx="4929222" cy="2928956"/>
        </p:xfrm>
        <a:graphic>
          <a:graphicData uri="http://schemas.openxmlformats.org/drawingml/2006/table">
            <a:tbl>
              <a:tblPr/>
              <a:tblGrid>
                <a:gridCol w="2533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5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7345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b="1" kern="100" dirty="0">
                          <a:latin typeface="Times New Roman"/>
                          <a:ea typeface="돋움"/>
                        </a:rPr>
                        <a:t>명령</a:t>
                      </a:r>
                      <a:endParaRPr lang="ko-KR" sz="1200" kern="100" dirty="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latin typeface="돋움"/>
                          <a:ea typeface="바탕체"/>
                        </a:rPr>
                        <a:t>Services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22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kern="100">
                          <a:latin typeface="Times New Roman"/>
                          <a:ea typeface="돋움"/>
                        </a:rPr>
                        <a:t>저장하라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C-Store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22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kern="100">
                          <a:latin typeface="Times New Roman"/>
                          <a:ea typeface="돋움"/>
                        </a:rPr>
                        <a:t>찾아라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C-Find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22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kern="100">
                          <a:latin typeface="Times New Roman"/>
                          <a:ea typeface="돋움"/>
                        </a:rPr>
                        <a:t>전송하라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C-Move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22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kern="100">
                          <a:latin typeface="Times New Roman"/>
                          <a:ea typeface="돋움"/>
                        </a:rPr>
                        <a:t>만들어라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N-Set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22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kern="100">
                          <a:latin typeface="Times New Roman"/>
                          <a:ea typeface="돋움"/>
                        </a:rPr>
                        <a:t>가져와라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N-Get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5496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latin typeface="돋움"/>
                          <a:ea typeface="바탕체"/>
                        </a:rPr>
                        <a:t>.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latin typeface="돋움"/>
                          <a:ea typeface="바탕체"/>
                        </a:rPr>
                        <a:t>.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latin typeface="돋움"/>
                          <a:ea typeface="바탕체"/>
                        </a:rPr>
                        <a:t>.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돋움"/>
                          <a:ea typeface="바탕체"/>
                        </a:rPr>
                        <a:t>.</a:t>
                      </a:r>
                      <a:endParaRPr lang="ko-KR" sz="1200" kern="100" dirty="0">
                        <a:latin typeface="Times New Roman"/>
                        <a:ea typeface="바탕체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돋움"/>
                          <a:ea typeface="바탕체"/>
                        </a:rPr>
                        <a:t>.</a:t>
                      </a:r>
                      <a:endParaRPr lang="ko-KR" sz="1200" kern="100" dirty="0">
                        <a:latin typeface="Times New Roman"/>
                        <a:ea typeface="바탕체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돋움"/>
                          <a:ea typeface="바탕체"/>
                        </a:rPr>
                        <a:t>.</a:t>
                      </a:r>
                      <a:endParaRPr lang="ko-KR" sz="1200" kern="100" dirty="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357158" y="357166"/>
            <a:ext cx="30644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. DICOM Concepts</a:t>
            </a:r>
            <a:endParaRPr lang="ko-KR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357158" y="1000108"/>
            <a:ext cx="42481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ko-KR" sz="1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2.1.4 </a:t>
            </a:r>
            <a:r>
              <a:rPr lang="en-US" b="1" dirty="0"/>
              <a:t> SOP class</a:t>
            </a:r>
            <a:endParaRPr lang="ko-KR" altLang="en-US" b="1" dirty="0"/>
          </a:p>
        </p:txBody>
      </p:sp>
      <p:sp>
        <p:nvSpPr>
          <p:cNvPr id="5" name="직사각형 4"/>
          <p:cNvSpPr/>
          <p:nvPr/>
        </p:nvSpPr>
        <p:spPr>
          <a:xfrm>
            <a:off x="714348" y="1857364"/>
            <a:ext cx="72866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- </a:t>
            </a:r>
            <a:r>
              <a:rPr lang="ko-KR" altLang="en-US" dirty="0"/>
              <a:t>무엇을</a:t>
            </a:r>
            <a:r>
              <a:rPr lang="en-US" altLang="ko-KR" dirty="0"/>
              <a:t>(IOD) + </a:t>
            </a:r>
            <a:r>
              <a:rPr lang="ko-KR" altLang="en-US" dirty="0"/>
              <a:t>어떻게</a:t>
            </a:r>
            <a:r>
              <a:rPr lang="en-US" altLang="ko-KR" dirty="0"/>
              <a:t>(DIMSE)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928662" y="2857496"/>
          <a:ext cx="6715171" cy="1857388"/>
        </p:xfrm>
        <a:graphic>
          <a:graphicData uri="http://schemas.openxmlformats.org/drawingml/2006/table">
            <a:tbl>
              <a:tblPr/>
              <a:tblGrid>
                <a:gridCol w="2186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3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6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5188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돋움"/>
                          <a:ea typeface="바탕체"/>
                        </a:rPr>
                        <a:t>IOD</a:t>
                      </a:r>
                      <a:endParaRPr lang="ko-KR" sz="1600" kern="100" dirty="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돋움"/>
                          <a:ea typeface="바탕체"/>
                        </a:rPr>
                        <a:t>DIMSE</a:t>
                      </a:r>
                      <a:endParaRPr lang="ko-KR" sz="16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돋움"/>
                          <a:ea typeface="바탕체"/>
                        </a:rPr>
                        <a:t>SOP Class</a:t>
                      </a:r>
                      <a:endParaRPr lang="ko-KR" sz="16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10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돋움"/>
                          <a:ea typeface="바탕체"/>
                        </a:rPr>
                        <a:t>CT Image</a:t>
                      </a:r>
                      <a:endParaRPr lang="ko-KR" sz="16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돋움"/>
                          <a:ea typeface="바탕체"/>
                        </a:rPr>
                        <a:t>C-Store</a:t>
                      </a:r>
                      <a:endParaRPr lang="ko-KR" sz="16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돋움"/>
                          <a:ea typeface="바탕체"/>
                        </a:rPr>
                        <a:t>Store</a:t>
                      </a:r>
                      <a:r>
                        <a:rPr lang="en-US" sz="1600" kern="100" baseline="0" dirty="0">
                          <a:latin typeface="돋움"/>
                          <a:ea typeface="바탕체"/>
                        </a:rPr>
                        <a:t> CT </a:t>
                      </a:r>
                      <a:r>
                        <a:rPr lang="en-US" sz="1600" kern="100" dirty="0">
                          <a:latin typeface="돋움"/>
                          <a:ea typeface="바탕체"/>
                        </a:rPr>
                        <a:t>Image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10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돋움"/>
                          <a:ea typeface="바탕체"/>
                        </a:rPr>
                        <a:t>MR Image</a:t>
                      </a:r>
                      <a:endParaRPr lang="ko-KR" sz="16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돋움"/>
                          <a:ea typeface="바탕체"/>
                        </a:rPr>
                        <a:t>C-Find</a:t>
                      </a:r>
                      <a:endParaRPr lang="ko-KR" sz="16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돋움"/>
                          <a:ea typeface="바탕체"/>
                        </a:rPr>
                        <a:t>Find MR Image</a:t>
                      </a:r>
                      <a:endParaRPr lang="ko-KR" sz="1600" kern="100" dirty="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428596" y="285728"/>
            <a:ext cx="30644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. DICOM Concepts</a:t>
            </a:r>
            <a:endParaRPr lang="ko-KR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285720" y="1000108"/>
            <a:ext cx="42481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ko-KR" sz="1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2.1.5 </a:t>
            </a:r>
            <a:r>
              <a:rPr lang="en-US" b="1" dirty="0"/>
              <a:t> DICOM Information Model</a:t>
            </a:r>
            <a:endParaRPr lang="ko-KR" altLang="en-US" b="1" dirty="0"/>
          </a:p>
        </p:txBody>
      </p:sp>
      <p:pic>
        <p:nvPicPr>
          <p:cNvPr id="45058" name="Picture 2" descr="3_6_1_major structure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93009" y="1622155"/>
            <a:ext cx="6357982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285720" y="285728"/>
            <a:ext cx="30644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. DICOM Concepts</a:t>
            </a:r>
            <a:endParaRPr lang="ko-KR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357158" y="1000108"/>
            <a:ext cx="42481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ko-KR" sz="1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2.1.6 </a:t>
            </a:r>
            <a:r>
              <a:rPr lang="en-US" b="1" dirty="0"/>
              <a:t> Unique Identification(UID)</a:t>
            </a:r>
            <a:endParaRPr lang="ko-KR" altLang="en-US" b="1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760856"/>
              </p:ext>
            </p:extLst>
          </p:nvPr>
        </p:nvGraphicFramePr>
        <p:xfrm>
          <a:off x="1060850" y="2010587"/>
          <a:ext cx="6967534" cy="923114"/>
        </p:xfrm>
        <a:graphic>
          <a:graphicData uri="http://schemas.openxmlformats.org/drawingml/2006/table">
            <a:tbl>
              <a:tblPr/>
              <a:tblGrid>
                <a:gridCol w="3583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554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latin typeface="돋움"/>
                          <a:ea typeface="바탕체"/>
                        </a:rPr>
                        <a:t>MR Image SOP Class UID</a:t>
                      </a:r>
                      <a:endParaRPr lang="ko-KR" sz="1600" b="0" kern="100" dirty="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latin typeface="돋움"/>
                          <a:ea typeface="바탕체"/>
                        </a:rPr>
                        <a:t>1.2.840.10008.5.1.4.1.1.4</a:t>
                      </a:r>
                      <a:endParaRPr lang="ko-KR" sz="1600" b="0" kern="100" dirty="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574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latin typeface="돋움"/>
                          <a:ea typeface="바탕체"/>
                        </a:rPr>
                        <a:t>JPEG2000 Image compression UID</a:t>
                      </a:r>
                      <a:endParaRPr lang="ko-KR" sz="1600" b="0" kern="100" dirty="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latin typeface="돋움"/>
                          <a:ea typeface="바탕체"/>
                        </a:rPr>
                        <a:t>1.2.840.10008.1.2.4.91</a:t>
                      </a:r>
                      <a:endParaRPr lang="ko-KR" sz="1600" b="0" kern="100" dirty="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105" name="Rectangle 1"/>
          <p:cNvSpPr>
            <a:spLocks noChangeArrowheads="1"/>
          </p:cNvSpPr>
          <p:nvPr/>
        </p:nvSpPr>
        <p:spPr bwMode="auto">
          <a:xfrm>
            <a:off x="1290486" y="3429000"/>
            <a:ext cx="64748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524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UID = &lt;root&gt;.&lt;suffix&gt; = &lt;1.2.840.10008&gt;.&lt;5.1.4.1.1.4&gt;</a:t>
            </a:r>
            <a:endParaRPr kumimoji="1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C723A74-772F-5E63-D0FA-CEADA3997BDE}"/>
              </a:ext>
            </a:extLst>
          </p:cNvPr>
          <p:cNvSpPr/>
          <p:nvPr/>
        </p:nvSpPr>
        <p:spPr>
          <a:xfrm>
            <a:off x="1329847" y="3924300"/>
            <a:ext cx="6550921" cy="2250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/>
              <a:t> 1: ISO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/>
              <a:t> 1.2: member-body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/>
              <a:t> 1.2.840: US</a:t>
            </a:r>
            <a:r>
              <a:rPr lang="ko-KR" altLang="en-US" sz="1600" b="1"/>
              <a:t> </a:t>
            </a:r>
            <a:r>
              <a:rPr lang="en-US" altLang="ko-KR" sz="1600" b="1"/>
              <a:t>(</a:t>
            </a:r>
            <a:r>
              <a:rPr lang="ko-KR" altLang="en-US" sz="1600" b="1"/>
              <a:t>미국</a:t>
            </a:r>
            <a:r>
              <a:rPr lang="en-US" altLang="ko-KR" sz="1600" b="1"/>
              <a:t>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b="1"/>
              <a:t> 1.2.840.10008:</a:t>
            </a:r>
            <a:r>
              <a:rPr lang="ko-KR" altLang="en-US" sz="1600" b="1"/>
              <a:t> </a:t>
            </a:r>
            <a:r>
              <a:rPr lang="en-US" altLang="ko-KR" sz="1600" b="1"/>
              <a:t>DICOM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1600" b="1"/>
          </a:p>
          <a:p>
            <a:pPr>
              <a:lnSpc>
                <a:spcPct val="150000"/>
              </a:lnSpc>
            </a:pPr>
            <a:r>
              <a:rPr lang="ko-KR" altLang="en-US" sz="1600" b="1"/>
              <a:t>참조</a:t>
            </a:r>
            <a:r>
              <a:rPr lang="en-US" altLang="ko-KR" sz="1600" b="1"/>
              <a:t>: http://oidref.com/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477062" y="332656"/>
            <a:ext cx="30644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. DICOM Concepts</a:t>
            </a:r>
            <a:endParaRPr lang="ko-KR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323850" y="1052736"/>
            <a:ext cx="42481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ko-KR" sz="1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2.1.7 </a:t>
            </a:r>
            <a:r>
              <a:rPr lang="en-US" b="1" dirty="0"/>
              <a:t> Value Representation(VR)</a:t>
            </a:r>
            <a:endParaRPr lang="ko-KR" altLang="en-US" b="1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504581"/>
              </p:ext>
            </p:extLst>
          </p:nvPr>
        </p:nvGraphicFramePr>
        <p:xfrm>
          <a:off x="1607323" y="2060848"/>
          <a:ext cx="5929353" cy="4214839"/>
        </p:xfrm>
        <a:graphic>
          <a:graphicData uri="http://schemas.openxmlformats.org/drawingml/2006/table">
            <a:tbl>
              <a:tblPr/>
              <a:tblGrid>
                <a:gridCol w="1078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2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0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8507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VR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Name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VR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Name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56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AE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Application Entity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OW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Other word string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56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AS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Age String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PN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Person Name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56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AT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Attribute Tag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SH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Short string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56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CS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Code String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SL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Signed Long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56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DS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Decimal string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SQ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Sequence of Item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56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DA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Date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SS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Signed Short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56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DT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Date Time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ST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Short Text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56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FL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Floating point single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TM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Time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56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FD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Floating point double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UI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Unique Identifier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56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IS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Integer string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UL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Unsigned Long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56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LO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Long String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UN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Unknown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56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LT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Long Text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US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Unsigned Short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56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OB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latin typeface="돋움"/>
                          <a:ea typeface="바탕체"/>
                        </a:rPr>
                        <a:t>Other Byte String</a:t>
                      </a:r>
                      <a:endParaRPr lang="ko-KR" sz="12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en-US" sz="1200" kern="100">
                        <a:latin typeface="돋움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endParaRPr lang="en-US" sz="1200" kern="100" dirty="0">
                        <a:latin typeface="돋움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357158" y="357166"/>
            <a:ext cx="30644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. DICOM Concepts</a:t>
            </a:r>
            <a:endParaRPr lang="ko-KR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1007604" y="1468321"/>
            <a:ext cx="7128792" cy="3607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endParaRPr lang="en-US" altLang="ko-KR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400" b="1"/>
              <a:t>Byte ordering</a:t>
            </a:r>
          </a:p>
          <a:p>
            <a:pPr>
              <a:lnSpc>
                <a:spcPct val="150000"/>
              </a:lnSpc>
            </a:pPr>
            <a:r>
              <a:rPr lang="en-US" altLang="ko-KR" sz="2400" b="1"/>
              <a:t>	- Little Endian, Big Endian</a:t>
            </a:r>
            <a:endParaRPr lang="en-US" altLang="ko-KR" sz="24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400" b="1"/>
              <a:t>압축의 유무</a:t>
            </a:r>
            <a:endParaRPr lang="en-US" altLang="ko-KR" sz="2400" b="1"/>
          </a:p>
          <a:p>
            <a:pPr>
              <a:lnSpc>
                <a:spcPct val="150000"/>
              </a:lnSpc>
            </a:pPr>
            <a:r>
              <a:rPr lang="en-US" altLang="ko-KR" sz="2400" b="1"/>
              <a:t>	- </a:t>
            </a:r>
            <a:r>
              <a:rPr lang="ko-KR" altLang="en-US" sz="2400" b="1"/>
              <a:t>비압축</a:t>
            </a:r>
            <a:r>
              <a:rPr lang="en-US" altLang="ko-KR" sz="2400" b="1"/>
              <a:t>, </a:t>
            </a:r>
            <a:r>
              <a:rPr lang="ko-KR" altLang="en-US" sz="2400" b="1"/>
              <a:t>무손실압축</a:t>
            </a:r>
            <a:r>
              <a:rPr lang="en-US" altLang="ko-KR" sz="2400" b="1"/>
              <a:t>, </a:t>
            </a:r>
            <a:r>
              <a:rPr lang="ko-KR" altLang="en-US" sz="2400" b="1"/>
              <a:t>손실압축</a:t>
            </a:r>
            <a:endParaRPr lang="en-US" altLang="ko-KR" sz="24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400" b="1"/>
              <a:t>압축방식</a:t>
            </a:r>
            <a:endParaRPr lang="en-US" altLang="ko-KR" sz="2400" b="1"/>
          </a:p>
          <a:p>
            <a:pPr>
              <a:lnSpc>
                <a:spcPct val="150000"/>
              </a:lnSpc>
            </a:pPr>
            <a:r>
              <a:rPr lang="en-US" altLang="ko-KR" sz="2400" b="1"/>
              <a:t>	- JPEG, JPEG2000...</a:t>
            </a:r>
            <a:endParaRPr lang="ko-KR" altLang="en-US" sz="2400" b="1" dirty="0"/>
          </a:p>
        </p:txBody>
      </p:sp>
      <p:sp>
        <p:nvSpPr>
          <p:cNvPr id="5" name="직사각형 4"/>
          <p:cNvSpPr/>
          <p:nvPr/>
        </p:nvSpPr>
        <p:spPr>
          <a:xfrm>
            <a:off x="785786" y="5072074"/>
            <a:ext cx="74295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Transfer Syntax of DICOM</a:t>
            </a:r>
            <a:r>
              <a:rPr lang="ko-KR" altLang="en-US" dirty="0"/>
              <a:t>의 예</a:t>
            </a:r>
          </a:p>
          <a:p>
            <a:r>
              <a:rPr lang="en-US" dirty="0">
                <a:sym typeface="Wingdings"/>
              </a:rPr>
              <a:t></a:t>
            </a:r>
            <a:r>
              <a:rPr lang="en-US" dirty="0"/>
              <a:t> Implicit </a:t>
            </a:r>
            <a:r>
              <a:rPr lang="en-US"/>
              <a:t>Little Endian, </a:t>
            </a:r>
            <a:r>
              <a:rPr lang="en-US" dirty="0"/>
              <a:t>Explicit Little </a:t>
            </a:r>
            <a:r>
              <a:rPr lang="en-US" dirty="0" err="1"/>
              <a:t>Endian</a:t>
            </a:r>
            <a:r>
              <a:rPr lang="en-US" dirty="0"/>
              <a:t>, Explicit Big </a:t>
            </a:r>
            <a:r>
              <a:rPr lang="en-US" dirty="0" err="1"/>
              <a:t>Endian</a:t>
            </a:r>
            <a:r>
              <a:rPr lang="en-US" dirty="0"/>
              <a:t>, DICOM JPEG DICOM JPEG2000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500034" y="1000108"/>
            <a:ext cx="2504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2.1.8 </a:t>
            </a:r>
            <a:r>
              <a:rPr lang="en-US" b="1" dirty="0"/>
              <a:t> Transfer Syntax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214282" y="324129"/>
            <a:ext cx="30644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. DICOM Concepts</a:t>
            </a:r>
            <a:endParaRPr lang="ko-KR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285720" y="1000108"/>
            <a:ext cx="42481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ko-KR" sz="1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2.1.9.1 </a:t>
            </a:r>
            <a:r>
              <a:rPr lang="en-US" b="1" dirty="0"/>
              <a:t> DICOM  Data Format</a:t>
            </a:r>
            <a:endParaRPr lang="ko-KR" altLang="en-US" sz="2400" b="1" dirty="0"/>
          </a:p>
        </p:txBody>
      </p:sp>
      <p:grpSp>
        <p:nvGrpSpPr>
          <p:cNvPr id="51202" name="Group 2"/>
          <p:cNvGrpSpPr>
            <a:grpSpLocks/>
          </p:cNvGrpSpPr>
          <p:nvPr/>
        </p:nvGrpSpPr>
        <p:grpSpPr bwMode="auto">
          <a:xfrm>
            <a:off x="1071538" y="1643050"/>
            <a:ext cx="6643734" cy="3571900"/>
            <a:chOff x="1008" y="2016"/>
            <a:chExt cx="3408" cy="1728"/>
          </a:xfrm>
        </p:grpSpPr>
        <p:sp>
          <p:nvSpPr>
            <p:cNvPr id="51203" name="Rectangle 3"/>
            <p:cNvSpPr>
              <a:spLocks noChangeArrowheads="1"/>
            </p:cNvSpPr>
            <p:nvPr/>
          </p:nvSpPr>
          <p:spPr bwMode="auto">
            <a:xfrm>
              <a:off x="1104" y="2208"/>
              <a:ext cx="576" cy="288"/>
            </a:xfrm>
            <a:prstGeom prst="rect">
              <a:avLst/>
            </a:prstGeom>
            <a:noFill/>
            <a:ln w="9525">
              <a:solidFill>
                <a:srgbClr val="40458C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굴림" pitchFamily="50" charset="-127"/>
                </a:rPr>
                <a:t>Data</a:t>
              </a:r>
            </a:p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굴림" pitchFamily="50" charset="-127"/>
                </a:rPr>
                <a:t>element</a:t>
              </a: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1204" name="Rectangle 4"/>
            <p:cNvSpPr>
              <a:spLocks noChangeArrowheads="1"/>
            </p:cNvSpPr>
            <p:nvPr/>
          </p:nvSpPr>
          <p:spPr bwMode="auto">
            <a:xfrm>
              <a:off x="1680" y="2208"/>
              <a:ext cx="576" cy="288"/>
            </a:xfrm>
            <a:prstGeom prst="rect">
              <a:avLst/>
            </a:prstGeom>
            <a:noFill/>
            <a:ln w="9525">
              <a:solidFill>
                <a:srgbClr val="40458C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굴림" pitchFamily="50" charset="-127"/>
                </a:rPr>
                <a:t>Data</a:t>
              </a:r>
            </a:p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굴림" pitchFamily="50" charset="-127"/>
                </a:rPr>
                <a:t>element</a:t>
              </a: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1205" name="Rectangle 5"/>
            <p:cNvSpPr>
              <a:spLocks noChangeArrowheads="1"/>
            </p:cNvSpPr>
            <p:nvPr/>
          </p:nvSpPr>
          <p:spPr bwMode="auto">
            <a:xfrm>
              <a:off x="2256" y="2208"/>
              <a:ext cx="576" cy="288"/>
            </a:xfrm>
            <a:prstGeom prst="rect">
              <a:avLst/>
            </a:prstGeom>
            <a:noFill/>
            <a:ln w="9525">
              <a:solidFill>
                <a:srgbClr val="40458C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굴림" pitchFamily="50" charset="-127"/>
                </a:rPr>
                <a:t>Data</a:t>
              </a:r>
            </a:p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굴림" pitchFamily="50" charset="-127"/>
                </a:rPr>
                <a:t>element</a:t>
              </a: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1206" name="Rectangle 6"/>
            <p:cNvSpPr>
              <a:spLocks noChangeArrowheads="1"/>
            </p:cNvSpPr>
            <p:nvPr/>
          </p:nvSpPr>
          <p:spPr bwMode="auto">
            <a:xfrm>
              <a:off x="3840" y="2208"/>
              <a:ext cx="576" cy="288"/>
            </a:xfrm>
            <a:prstGeom prst="rect">
              <a:avLst/>
            </a:prstGeom>
            <a:noFill/>
            <a:ln w="9525">
              <a:solidFill>
                <a:srgbClr val="40458C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굴림" pitchFamily="50" charset="-127"/>
                </a:rPr>
                <a:t>Data</a:t>
              </a:r>
            </a:p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굴림" pitchFamily="50" charset="-127"/>
                </a:rPr>
                <a:t>element</a:t>
              </a: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1207" name="Rectangle 7"/>
            <p:cNvSpPr>
              <a:spLocks noChangeArrowheads="1"/>
            </p:cNvSpPr>
            <p:nvPr/>
          </p:nvSpPr>
          <p:spPr bwMode="auto">
            <a:xfrm>
              <a:off x="2832" y="2208"/>
              <a:ext cx="1008" cy="288"/>
            </a:xfrm>
            <a:prstGeom prst="rect">
              <a:avLst/>
            </a:prstGeom>
            <a:noFill/>
            <a:ln w="9525">
              <a:solidFill>
                <a:srgbClr val="40458C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1208" name="Rectangle 8"/>
            <p:cNvSpPr>
              <a:spLocks noChangeArrowheads="1"/>
            </p:cNvSpPr>
            <p:nvPr/>
          </p:nvSpPr>
          <p:spPr bwMode="auto">
            <a:xfrm>
              <a:off x="1248" y="3024"/>
              <a:ext cx="576" cy="288"/>
            </a:xfrm>
            <a:prstGeom prst="rect">
              <a:avLst/>
            </a:prstGeom>
            <a:noFill/>
            <a:ln w="9525">
              <a:solidFill>
                <a:srgbClr val="40458C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굴림" pitchFamily="50" charset="-127"/>
                </a:rPr>
                <a:t>Tag</a:t>
              </a: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1209" name="Rectangle 9"/>
            <p:cNvSpPr>
              <a:spLocks noChangeArrowheads="1"/>
            </p:cNvSpPr>
            <p:nvPr/>
          </p:nvSpPr>
          <p:spPr bwMode="auto">
            <a:xfrm>
              <a:off x="1824" y="3024"/>
              <a:ext cx="576" cy="288"/>
            </a:xfrm>
            <a:prstGeom prst="rect">
              <a:avLst/>
            </a:prstGeom>
            <a:solidFill>
              <a:srgbClr val="B7C1EB"/>
            </a:solidFill>
            <a:ln w="9525">
              <a:solidFill>
                <a:srgbClr val="40458C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굴림" pitchFamily="50" charset="-127"/>
                </a:rPr>
                <a:t>VR</a:t>
              </a: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1210" name="Rectangle 10"/>
            <p:cNvSpPr>
              <a:spLocks noChangeArrowheads="1"/>
            </p:cNvSpPr>
            <p:nvPr/>
          </p:nvSpPr>
          <p:spPr bwMode="auto">
            <a:xfrm>
              <a:off x="2400" y="3024"/>
              <a:ext cx="576" cy="288"/>
            </a:xfrm>
            <a:prstGeom prst="rect">
              <a:avLst/>
            </a:prstGeom>
            <a:noFill/>
            <a:ln w="9525">
              <a:solidFill>
                <a:srgbClr val="40458C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굴림" pitchFamily="50" charset="-127"/>
                </a:rPr>
                <a:t>Value</a:t>
              </a:r>
            </a:p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굴림" pitchFamily="50" charset="-127"/>
                </a:rPr>
                <a:t>Length</a:t>
              </a: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1211" name="Rectangle 11"/>
            <p:cNvSpPr>
              <a:spLocks noChangeArrowheads="1"/>
            </p:cNvSpPr>
            <p:nvPr/>
          </p:nvSpPr>
          <p:spPr bwMode="auto">
            <a:xfrm>
              <a:off x="2976" y="3024"/>
              <a:ext cx="1344" cy="288"/>
            </a:xfrm>
            <a:prstGeom prst="rect">
              <a:avLst/>
            </a:prstGeom>
            <a:noFill/>
            <a:ln w="9525">
              <a:solidFill>
                <a:srgbClr val="40458C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굴림" pitchFamily="50" charset="-127"/>
                </a:rPr>
                <a:t>Value Field</a:t>
              </a: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1212" name="Line 12"/>
            <p:cNvSpPr>
              <a:spLocks noChangeShapeType="1"/>
            </p:cNvSpPr>
            <p:nvPr/>
          </p:nvSpPr>
          <p:spPr bwMode="auto">
            <a:xfrm flipH="1">
              <a:off x="1248" y="2208"/>
              <a:ext cx="432" cy="816"/>
            </a:xfrm>
            <a:prstGeom prst="line">
              <a:avLst/>
            </a:prstGeom>
            <a:noFill/>
            <a:ln w="9525">
              <a:solidFill>
                <a:srgbClr val="40458C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1213" name="Line 13"/>
            <p:cNvSpPr>
              <a:spLocks noChangeShapeType="1"/>
            </p:cNvSpPr>
            <p:nvPr/>
          </p:nvSpPr>
          <p:spPr bwMode="auto">
            <a:xfrm flipH="1">
              <a:off x="1392" y="2496"/>
              <a:ext cx="288" cy="528"/>
            </a:xfrm>
            <a:prstGeom prst="line">
              <a:avLst/>
            </a:prstGeom>
            <a:noFill/>
            <a:ln w="9525">
              <a:solidFill>
                <a:srgbClr val="40458C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1214" name="Line 14"/>
            <p:cNvSpPr>
              <a:spLocks noChangeShapeType="1"/>
            </p:cNvSpPr>
            <p:nvPr/>
          </p:nvSpPr>
          <p:spPr bwMode="auto">
            <a:xfrm>
              <a:off x="2256" y="2208"/>
              <a:ext cx="2064" cy="816"/>
            </a:xfrm>
            <a:prstGeom prst="line">
              <a:avLst/>
            </a:prstGeom>
            <a:noFill/>
            <a:ln w="9525">
              <a:solidFill>
                <a:srgbClr val="40458C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1215" name="Line 15"/>
            <p:cNvSpPr>
              <a:spLocks noChangeShapeType="1"/>
            </p:cNvSpPr>
            <p:nvPr/>
          </p:nvSpPr>
          <p:spPr bwMode="auto">
            <a:xfrm>
              <a:off x="2256" y="2496"/>
              <a:ext cx="1392" cy="528"/>
            </a:xfrm>
            <a:prstGeom prst="line">
              <a:avLst/>
            </a:prstGeom>
            <a:noFill/>
            <a:ln w="9525">
              <a:solidFill>
                <a:srgbClr val="40458C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1216" name="Line 16"/>
            <p:cNvSpPr>
              <a:spLocks noChangeShapeType="1"/>
            </p:cNvSpPr>
            <p:nvPr/>
          </p:nvSpPr>
          <p:spPr bwMode="auto">
            <a:xfrm>
              <a:off x="3072" y="2352"/>
              <a:ext cx="528" cy="1"/>
            </a:xfrm>
            <a:prstGeom prst="line">
              <a:avLst/>
            </a:prstGeom>
            <a:noFill/>
            <a:ln w="28575">
              <a:solidFill>
                <a:srgbClr val="40458C"/>
              </a:solidFill>
              <a:prstDash val="sysDot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1217" name="Text Box 17"/>
            <p:cNvSpPr txBox="1">
              <a:spLocks noChangeArrowheads="1"/>
            </p:cNvSpPr>
            <p:nvPr/>
          </p:nvSpPr>
          <p:spPr bwMode="auto">
            <a:xfrm>
              <a:off x="1008" y="2016"/>
              <a:ext cx="72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굴림" pitchFamily="50" charset="-127"/>
                </a:rPr>
                <a:t>Data set</a:t>
              </a: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1218" name="Text Box 18"/>
            <p:cNvSpPr txBox="1">
              <a:spLocks noChangeArrowheads="1"/>
            </p:cNvSpPr>
            <p:nvPr/>
          </p:nvSpPr>
          <p:spPr bwMode="auto">
            <a:xfrm>
              <a:off x="2400" y="2016"/>
              <a:ext cx="1008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1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굴림" pitchFamily="50" charset="-127"/>
                </a:rPr>
                <a:t>Order of transmission</a:t>
              </a:r>
              <a:endParaRPr kumimoji="1" lang="ko-KR" altLang="ko-K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1219" name="Line 19"/>
            <p:cNvSpPr>
              <a:spLocks noChangeShapeType="1"/>
            </p:cNvSpPr>
            <p:nvPr/>
          </p:nvSpPr>
          <p:spPr bwMode="auto">
            <a:xfrm>
              <a:off x="3504" y="2148"/>
              <a:ext cx="720" cy="1"/>
            </a:xfrm>
            <a:prstGeom prst="line">
              <a:avLst/>
            </a:prstGeom>
            <a:noFill/>
            <a:ln w="9525">
              <a:solidFill>
                <a:srgbClr val="40458C"/>
              </a:solidFill>
              <a:miter lim="800000"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1220" name="Text Box 20"/>
            <p:cNvSpPr txBox="1">
              <a:spLocks noChangeArrowheads="1"/>
            </p:cNvSpPr>
            <p:nvPr/>
          </p:nvSpPr>
          <p:spPr bwMode="auto">
            <a:xfrm>
              <a:off x="1488" y="2832"/>
              <a:ext cx="100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굴림" pitchFamily="50" charset="-127"/>
                </a:rPr>
                <a:t>Data element</a:t>
              </a: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1221" name="Text Box 21"/>
            <p:cNvSpPr txBox="1">
              <a:spLocks noChangeArrowheads="1"/>
            </p:cNvSpPr>
            <p:nvPr/>
          </p:nvSpPr>
          <p:spPr bwMode="auto">
            <a:xfrm>
              <a:off x="2304" y="3552"/>
              <a:ext cx="158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Verdana" pitchFamily="34" charset="0"/>
                  <a:ea typeface="굴림" pitchFamily="50" charset="-127"/>
                </a:rPr>
                <a:t>Optional field</a:t>
              </a: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cxnSp>
          <p:nvCxnSpPr>
            <p:cNvPr id="51222" name="AutoShape 22"/>
            <p:cNvCxnSpPr>
              <a:cxnSpLocks noChangeShapeType="1"/>
              <a:stCxn id="51209" idx="2"/>
              <a:endCxn id="51221" idx="1"/>
            </p:cNvCxnSpPr>
            <p:nvPr/>
          </p:nvCxnSpPr>
          <p:spPr bwMode="auto">
            <a:xfrm rot="16200000" flipH="1">
              <a:off x="2040" y="3384"/>
              <a:ext cx="336" cy="192"/>
            </a:xfrm>
            <a:prstGeom prst="bentConnector2">
              <a:avLst/>
            </a:prstGeom>
            <a:noFill/>
            <a:ln w="9525">
              <a:solidFill>
                <a:srgbClr val="40458C"/>
              </a:solidFill>
              <a:miter lim="800000"/>
              <a:headEnd/>
              <a:tailEnd type="triangle" w="med" len="med"/>
            </a:ln>
            <a:effectLst/>
          </p:spPr>
        </p:cxnSp>
        <p:sp>
          <p:nvSpPr>
            <p:cNvPr id="51223" name="Line 23"/>
            <p:cNvSpPr>
              <a:spLocks noChangeShapeType="1"/>
            </p:cNvSpPr>
            <p:nvPr/>
          </p:nvSpPr>
          <p:spPr bwMode="auto">
            <a:xfrm>
              <a:off x="1680" y="2130"/>
              <a:ext cx="720" cy="1"/>
            </a:xfrm>
            <a:prstGeom prst="line">
              <a:avLst/>
            </a:prstGeom>
            <a:noFill/>
            <a:ln w="9525">
              <a:solidFill>
                <a:srgbClr val="40458C"/>
              </a:solidFill>
              <a:miter lim="800000"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27" name="직사각형 26"/>
          <p:cNvSpPr/>
          <p:nvPr/>
        </p:nvSpPr>
        <p:spPr>
          <a:xfrm>
            <a:off x="285720" y="5214950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(</a:t>
            </a:r>
            <a:r>
              <a:rPr lang="ko-KR" altLang="en-US" dirty="0"/>
              <a:t>예</a:t>
            </a:r>
            <a:r>
              <a:rPr lang="en-US" dirty="0"/>
              <a:t>) Tag (0028,0101)</a:t>
            </a:r>
            <a:r>
              <a:rPr lang="en-US" dirty="0">
                <a:sym typeface="Wingdings"/>
              </a:rPr>
              <a:t></a:t>
            </a:r>
            <a:r>
              <a:rPr lang="en-US" dirty="0"/>
              <a:t> Bits Stored , Length </a:t>
            </a:r>
            <a:r>
              <a:rPr lang="en-US" dirty="0">
                <a:sym typeface="Wingdings"/>
              </a:rPr>
              <a:t></a:t>
            </a:r>
            <a:r>
              <a:rPr lang="en-US" dirty="0"/>
              <a:t>2 (00000002), Value </a:t>
            </a:r>
            <a:r>
              <a:rPr lang="en-US" dirty="0">
                <a:sym typeface="Wingdings"/>
              </a:rPr>
              <a:t></a:t>
            </a:r>
            <a:r>
              <a:rPr lang="en-US" dirty="0"/>
              <a:t> 8 (0008)</a:t>
            </a:r>
            <a:endParaRPr lang="ko-KR" altLang="en-US" dirty="0"/>
          </a:p>
        </p:txBody>
      </p:sp>
      <p:graphicFrame>
        <p:nvGraphicFramePr>
          <p:cNvPr id="28" name="표 27"/>
          <p:cNvGraphicFramePr>
            <a:graphicFrameLocks noGrp="1"/>
          </p:cNvGraphicFramePr>
          <p:nvPr/>
        </p:nvGraphicFramePr>
        <p:xfrm>
          <a:off x="857224" y="5715016"/>
          <a:ext cx="6143670" cy="222885"/>
        </p:xfrm>
        <a:graphic>
          <a:graphicData uri="http://schemas.openxmlformats.org/drawingml/2006/table">
            <a:tbl>
              <a:tblPr/>
              <a:tblGrid>
                <a:gridCol w="61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43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43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3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43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43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43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43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43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돋움"/>
                          <a:ea typeface="바탕체"/>
                        </a:rPr>
                        <a:t>28</a:t>
                      </a:r>
                      <a:endParaRPr lang="ko-KR" sz="14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돋움"/>
                          <a:ea typeface="바탕체"/>
                        </a:rPr>
                        <a:t>00</a:t>
                      </a:r>
                      <a:endParaRPr lang="ko-KR" sz="14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돋움"/>
                          <a:ea typeface="바탕체"/>
                        </a:rPr>
                        <a:t>01</a:t>
                      </a:r>
                      <a:endParaRPr lang="ko-KR" sz="14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돋움"/>
                          <a:ea typeface="바탕체"/>
                        </a:rPr>
                        <a:t>01</a:t>
                      </a:r>
                      <a:endParaRPr lang="ko-KR" sz="14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돋움"/>
                          <a:ea typeface="바탕체"/>
                        </a:rPr>
                        <a:t>02</a:t>
                      </a:r>
                      <a:endParaRPr lang="ko-KR" sz="14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돋움"/>
                          <a:ea typeface="바탕체"/>
                        </a:rPr>
                        <a:t>00</a:t>
                      </a:r>
                      <a:endParaRPr lang="ko-KR" sz="14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돋움"/>
                          <a:ea typeface="바탕체"/>
                        </a:rPr>
                        <a:t>00</a:t>
                      </a:r>
                      <a:endParaRPr lang="ko-KR" sz="14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돋움"/>
                          <a:ea typeface="바탕체"/>
                        </a:rPr>
                        <a:t>00</a:t>
                      </a:r>
                      <a:endParaRPr lang="ko-KR" sz="14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돋움"/>
                          <a:ea typeface="바탕체"/>
                        </a:rPr>
                        <a:t>08</a:t>
                      </a:r>
                      <a:endParaRPr lang="ko-KR" sz="14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latin typeface="돋움"/>
                          <a:ea typeface="바탕체"/>
                        </a:rPr>
                        <a:t>00</a:t>
                      </a:r>
                      <a:endParaRPr lang="ko-KR" sz="1400" kern="100" dirty="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1224" name="Group 24"/>
          <p:cNvGrpSpPr>
            <a:grpSpLocks noChangeAspect="1"/>
          </p:cNvGrpSpPr>
          <p:nvPr/>
        </p:nvGrpSpPr>
        <p:grpSpPr bwMode="auto">
          <a:xfrm>
            <a:off x="841916" y="6072206"/>
            <a:ext cx="6245722" cy="495984"/>
            <a:chOff x="2201" y="14045"/>
            <a:chExt cx="4320" cy="540"/>
          </a:xfrm>
        </p:grpSpPr>
        <p:sp>
          <p:nvSpPr>
            <p:cNvPr id="51225" name="Text Box 25"/>
            <p:cNvSpPr txBox="1">
              <a:spLocks noChangeAspect="1" noChangeArrowheads="1"/>
            </p:cNvSpPr>
            <p:nvPr/>
          </p:nvSpPr>
          <p:spPr bwMode="auto">
            <a:xfrm>
              <a:off x="2201" y="14045"/>
              <a:ext cx="700" cy="54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Tag</a:t>
              </a:r>
              <a:endParaRPr kumimoji="1" lang="ko-KR" altLang="ko-K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1226" name="Text Box 26"/>
            <p:cNvSpPr txBox="1">
              <a:spLocks noChangeAspect="1" noChangeArrowheads="1"/>
            </p:cNvSpPr>
            <p:nvPr/>
          </p:nvSpPr>
          <p:spPr bwMode="auto">
            <a:xfrm>
              <a:off x="3941" y="14045"/>
              <a:ext cx="1000" cy="54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Length</a:t>
              </a:r>
              <a:endParaRPr kumimoji="1" lang="ko-KR" altLang="ko-K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1227" name="Text Box 27"/>
            <p:cNvSpPr txBox="1">
              <a:spLocks noChangeAspect="1" noChangeArrowheads="1"/>
            </p:cNvSpPr>
            <p:nvPr/>
          </p:nvSpPr>
          <p:spPr bwMode="auto">
            <a:xfrm>
              <a:off x="5621" y="14045"/>
              <a:ext cx="900" cy="54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Value</a:t>
              </a:r>
              <a:endParaRPr kumimoji="1" lang="ko-KR" altLang="ko-K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214282" y="324129"/>
            <a:ext cx="30644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. DICOM Concepts</a:t>
            </a:r>
            <a:endParaRPr lang="ko-KR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285720" y="1000108"/>
            <a:ext cx="42481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ko-KR" sz="1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2.1.9.2 </a:t>
            </a:r>
            <a:r>
              <a:rPr lang="en-US" b="1" dirty="0"/>
              <a:t> DICOM  Data Format</a:t>
            </a:r>
            <a:endParaRPr lang="ko-KR" altLang="en-US" sz="2400" b="1" dirty="0"/>
          </a:p>
        </p:txBody>
      </p:sp>
      <p:pic>
        <p:nvPicPr>
          <p:cNvPr id="55298" name="Picture 2" descr="DICOM Fil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48" y="1714488"/>
            <a:ext cx="7865700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직사각형 32"/>
          <p:cNvSpPr/>
          <p:nvPr/>
        </p:nvSpPr>
        <p:spPr>
          <a:xfrm>
            <a:off x="1857356" y="5857892"/>
            <a:ext cx="5181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128byte</a:t>
            </a:r>
            <a:r>
              <a:rPr lang="ko-KR" altLang="en-US" dirty="0"/>
              <a:t>다음의</a:t>
            </a:r>
            <a:r>
              <a:rPr lang="en-US" dirty="0"/>
              <a:t> 4byte</a:t>
            </a:r>
            <a:r>
              <a:rPr lang="ko-KR" altLang="en-US" dirty="0"/>
              <a:t>가 </a:t>
            </a:r>
            <a:r>
              <a:rPr lang="en-US" dirty="0"/>
              <a:t>“DICM” =&gt; DICOM File</a:t>
            </a:r>
            <a:endParaRPr lang="ko-KR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214282" y="324129"/>
            <a:ext cx="30644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. DICOM Concepts</a:t>
            </a:r>
            <a:endParaRPr lang="ko-KR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285720" y="1000108"/>
            <a:ext cx="42481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 dirty="0"/>
              <a:t>2.1.10. DICOM File Examples</a:t>
            </a:r>
            <a:endParaRPr lang="ko-KR" altLang="en-US" b="1" dirty="0"/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214282" y="1643050"/>
            <a:ext cx="58929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228600" algn="l"/>
              </a:tabLst>
            </a:pPr>
            <a:r>
              <a:rPr kumimoji="1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itchFamily="18" charset="0"/>
                <a:ea typeface="바탕체" pitchFamily="17" charset="-127"/>
                <a:cs typeface="Times New Roman" pitchFamily="18" charset="0"/>
              </a:rPr>
              <a:t>128 Byte Preamble + File Meta Header (0x0002 </a:t>
            </a: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itchFamily="18" charset="0"/>
                <a:ea typeface="바탕체" pitchFamily="17" charset="-127"/>
                <a:cs typeface="Times New Roman" pitchFamily="18" charset="0"/>
              </a:rPr>
              <a:t>그룹 속성들</a:t>
            </a:r>
            <a:r>
              <a:rPr kumimoji="1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itchFamily="18" charset="0"/>
                <a:ea typeface="바탕체" pitchFamily="17" charset="-127"/>
                <a:cs typeface="Times New Roman" pitchFamily="18" charset="0"/>
              </a:rPr>
              <a:t>) + Data Set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228600" algn="l"/>
              </a:tabLst>
            </a:pPr>
            <a:r>
              <a:rPr kumimoji="1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itchFamily="18" charset="0"/>
                <a:ea typeface="바탕체" pitchFamily="17" charset="-127"/>
                <a:cs typeface="Times New Roman" pitchFamily="18" charset="0"/>
              </a:rPr>
              <a:t>Transfer Syntax</a:t>
            </a: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itchFamily="18" charset="0"/>
                <a:ea typeface="바탕체" pitchFamily="17" charset="-127"/>
                <a:cs typeface="Times New Roman" pitchFamily="18" charset="0"/>
              </a:rPr>
              <a:t>를 명시적으로 지정</a:t>
            </a: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48" y="2357430"/>
            <a:ext cx="7572428" cy="3673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214282" y="324129"/>
            <a:ext cx="29763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DICOM Network</a:t>
            </a: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285720" y="1000108"/>
            <a:ext cx="42481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3.1</a:t>
            </a:r>
            <a:r>
              <a:rPr lang="en-US" b="1" dirty="0"/>
              <a:t>. </a:t>
            </a:r>
            <a:r>
              <a:rPr lang="ko-KR" altLang="en-US" b="1" dirty="0"/>
              <a:t>용어</a:t>
            </a:r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214282" y="1643050"/>
            <a:ext cx="725230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228600" algn="l"/>
              </a:tabLst>
            </a:pPr>
            <a:r>
              <a:rPr kumimoji="1" lang="en-US" altLang="ko-KR" sz="1400" dirty="0">
                <a:latin typeface="Book Antiqua" pitchFamily="18" charset="0"/>
                <a:ea typeface="바탕체" pitchFamily="17" charset="-127"/>
                <a:cs typeface="Times New Roman" pitchFamily="18" charset="0"/>
              </a:rPr>
              <a:t> Application Entity(AE) : </a:t>
            </a:r>
            <a:r>
              <a:rPr lang="en-US" sz="1400" dirty="0"/>
              <a:t>“DICOM </a:t>
            </a:r>
            <a:r>
              <a:rPr lang="ko-KR" altLang="en-US" sz="1400" dirty="0"/>
              <a:t>통신을 할 수 있는 것의 이름</a:t>
            </a:r>
            <a:r>
              <a:rPr lang="en-US" sz="1400" dirty="0"/>
              <a:t>”</a:t>
            </a:r>
            <a:endParaRPr kumimoji="1" lang="en-US" altLang="ko-KR" sz="1400" dirty="0">
              <a:latin typeface="Book Antiqua" pitchFamily="18" charset="0"/>
              <a:ea typeface="바탕체" pitchFamily="17" charset="-127"/>
              <a:cs typeface="Times New Roman" pitchFamily="18" charset="0"/>
            </a:endParaRPr>
          </a:p>
          <a:p>
            <a:pPr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228600" algn="l"/>
              </a:tabLst>
            </a:pPr>
            <a:r>
              <a:rPr kumimoji="1" lang="en-US" altLang="ko-KR" sz="1400" dirty="0">
                <a:latin typeface="Book Antiqua" pitchFamily="18" charset="0"/>
                <a:ea typeface="바탕체" pitchFamily="17" charset="-127"/>
                <a:cs typeface="Times New Roman" pitchFamily="18" charset="0"/>
              </a:rPr>
              <a:t> Presentation Context (PC) </a:t>
            </a: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itchFamily="18" charset="0"/>
                <a:ea typeface="바탕체" pitchFamily="17" charset="-127"/>
                <a:cs typeface="Times New Roman" pitchFamily="18" charset="0"/>
              </a:rPr>
              <a:t> </a:t>
            </a:r>
            <a:r>
              <a:rPr kumimoji="1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itchFamily="18" charset="0"/>
                <a:ea typeface="바탕체" pitchFamily="17" charset="-127"/>
                <a:cs typeface="Times New Roman" pitchFamily="18" charset="0"/>
              </a:rPr>
              <a:t>:  “</a:t>
            </a:r>
            <a:r>
              <a:rPr kumimoji="1" lang="ko-KR" altLang="en-US" sz="1400" dirty="0" err="1">
                <a:latin typeface="Book Antiqua" pitchFamily="18" charset="0"/>
                <a:ea typeface="바탕체" pitchFamily="17" charset="-127"/>
                <a:cs typeface="Times New Roman" pitchFamily="18" charset="0"/>
              </a:rPr>
              <a:t>어떤것은</a:t>
            </a:r>
            <a:r>
              <a:rPr kumimoji="1" lang="ko-KR" altLang="en-US" sz="1400" dirty="0">
                <a:latin typeface="Book Antiqua" pitchFamily="18" charset="0"/>
                <a:ea typeface="바탕체" pitchFamily="17" charset="-127"/>
                <a:cs typeface="Times New Roman" pitchFamily="18" charset="0"/>
              </a:rPr>
              <a:t> 어떤 방식으로 처리할 것인지에 대한 것을 표현</a:t>
            </a:r>
            <a:r>
              <a:rPr kumimoji="1" lang="en-US" altLang="ko-KR" sz="1400" dirty="0">
                <a:latin typeface="Book Antiqua" pitchFamily="18" charset="0"/>
                <a:ea typeface="바탕체" pitchFamily="17" charset="-127"/>
                <a:cs typeface="Times New Roman" pitchFamily="18" charset="0"/>
              </a:rPr>
              <a:t>”</a:t>
            </a: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857224" y="3000372"/>
          <a:ext cx="6143669" cy="2000264"/>
        </p:xfrm>
        <a:graphic>
          <a:graphicData uri="http://schemas.openxmlformats.org/drawingml/2006/table">
            <a:tbl>
              <a:tblPr/>
              <a:tblGrid>
                <a:gridCol w="1813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4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56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83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latin typeface="Times New Roman"/>
                          <a:ea typeface="바탕체"/>
                        </a:rPr>
                        <a:t>Abstract Syntax</a:t>
                      </a:r>
                      <a:endParaRPr lang="ko-KR" sz="11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latin typeface="Times New Roman"/>
                          <a:ea typeface="바탕체"/>
                        </a:rPr>
                        <a:t>Transfer Syntax</a:t>
                      </a:r>
                      <a:endParaRPr lang="ko-KR" sz="11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latin typeface="Times New Roman"/>
                          <a:ea typeface="바탕체"/>
                        </a:rPr>
                        <a:t>Presentation Context</a:t>
                      </a:r>
                      <a:endParaRPr lang="ko-KR" sz="11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96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sz="1100" kern="100">
                          <a:latin typeface="Times New Roman"/>
                          <a:ea typeface="바탕체"/>
                        </a:rPr>
                        <a:t>사용되는 </a:t>
                      </a:r>
                      <a:r>
                        <a:rPr lang="en-US" sz="1100" kern="100">
                          <a:latin typeface="Times New Roman"/>
                          <a:ea typeface="바탕체"/>
                        </a:rPr>
                        <a:t>SOP class</a:t>
                      </a:r>
                      <a:endParaRPr lang="ko-KR" sz="11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latin typeface="Times New Roman"/>
                          <a:ea typeface="바탕체"/>
                        </a:rPr>
                        <a:t>Encoding </a:t>
                      </a:r>
                      <a:r>
                        <a:rPr lang="ko-KR" sz="1100" kern="100">
                          <a:latin typeface="Times New Roman"/>
                          <a:ea typeface="바탕체"/>
                        </a:rPr>
                        <a:t>방식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latin typeface="Times New Roman"/>
                          <a:ea typeface="바탕체"/>
                        </a:rPr>
                        <a:t>(</a:t>
                      </a:r>
                      <a:r>
                        <a:rPr lang="ko-KR" sz="1100" kern="100">
                          <a:latin typeface="Times New Roman"/>
                          <a:ea typeface="바탕체"/>
                        </a:rPr>
                        <a:t>저장방식</a:t>
                      </a:r>
                      <a:r>
                        <a:rPr lang="en-US" sz="1100" kern="100">
                          <a:latin typeface="Times New Roman"/>
                          <a:ea typeface="바탕체"/>
                        </a:rPr>
                        <a:t>)</a:t>
                      </a:r>
                      <a:endParaRPr lang="ko-KR" sz="11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latin typeface="Times New Roman"/>
                          <a:ea typeface="바탕체"/>
                        </a:rPr>
                        <a:t>Abstract Syntax + Transfer Syntax</a:t>
                      </a:r>
                      <a:endParaRPr lang="ko-KR" sz="11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96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latin typeface="Times New Roman"/>
                          <a:ea typeface="바탕체"/>
                        </a:rPr>
                        <a:t>MR Image</a:t>
                      </a:r>
                      <a:r>
                        <a:rPr lang="ko-KR" sz="1100" kern="100">
                          <a:latin typeface="Times New Roman"/>
                          <a:ea typeface="바탕체"/>
                        </a:rPr>
                        <a:t>를 저장하라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latin typeface="Times New Roman"/>
                          <a:ea typeface="바탕체"/>
                        </a:rPr>
                        <a:t>JPEG </a:t>
                      </a:r>
                      <a:r>
                        <a:rPr lang="ko-KR" sz="1100" kern="100">
                          <a:latin typeface="Times New Roman"/>
                          <a:ea typeface="바탕체"/>
                        </a:rPr>
                        <a:t>압축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latin typeface="Times New Roman"/>
                          <a:ea typeface="바탕체"/>
                        </a:rPr>
                        <a:t>JPEG</a:t>
                      </a:r>
                      <a:r>
                        <a:rPr lang="ko-KR" sz="1100" kern="100" dirty="0">
                          <a:latin typeface="Times New Roman"/>
                          <a:ea typeface="바탕체"/>
                        </a:rPr>
                        <a:t>으로 압축된</a:t>
                      </a:r>
                      <a:r>
                        <a:rPr lang="en-US" sz="1100" kern="100" dirty="0">
                          <a:latin typeface="Times New Roman"/>
                          <a:ea typeface="바탕체"/>
                        </a:rPr>
                        <a:t> MR Image</a:t>
                      </a:r>
                      <a:r>
                        <a:rPr lang="ko-KR" sz="1100" kern="100" dirty="0">
                          <a:latin typeface="Times New Roman"/>
                          <a:ea typeface="바탕체"/>
                        </a:rPr>
                        <a:t>를 저장하라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214282" y="324129"/>
            <a:ext cx="29763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3. DICOM Network</a:t>
            </a:r>
            <a:endParaRPr lang="en-US" altLang="ko-KR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285720" y="1000108"/>
            <a:ext cx="42481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3.2</a:t>
            </a:r>
            <a:r>
              <a:rPr lang="en-US" b="1" dirty="0"/>
              <a:t>. </a:t>
            </a:r>
            <a:r>
              <a:rPr lang="en-US" altLang="ko-KR" b="1" dirty="0"/>
              <a:t>DICOM Network Model</a:t>
            </a:r>
          </a:p>
        </p:txBody>
      </p:sp>
      <p:grpSp>
        <p:nvGrpSpPr>
          <p:cNvPr id="60418" name="Group 2"/>
          <p:cNvGrpSpPr>
            <a:grpSpLocks/>
          </p:cNvGrpSpPr>
          <p:nvPr/>
        </p:nvGrpSpPr>
        <p:grpSpPr bwMode="auto">
          <a:xfrm>
            <a:off x="1714480" y="1857364"/>
            <a:ext cx="5016500" cy="3886200"/>
            <a:chOff x="2104" y="2705"/>
            <a:chExt cx="8197" cy="6480"/>
          </a:xfrm>
        </p:grpSpPr>
        <p:grpSp>
          <p:nvGrpSpPr>
            <p:cNvPr id="60419" name="Group 3"/>
            <p:cNvGrpSpPr>
              <a:grpSpLocks/>
            </p:cNvGrpSpPr>
            <p:nvPr/>
          </p:nvGrpSpPr>
          <p:grpSpPr bwMode="auto">
            <a:xfrm>
              <a:off x="3701" y="2705"/>
              <a:ext cx="6600" cy="6480"/>
              <a:chOff x="4501" y="2885"/>
              <a:chExt cx="5910" cy="6070"/>
            </a:xfrm>
          </p:grpSpPr>
          <p:sp>
            <p:nvSpPr>
              <p:cNvPr id="60420" name="Rectangle 4"/>
              <p:cNvSpPr>
                <a:spLocks noChangeArrowheads="1"/>
              </p:cNvSpPr>
              <p:nvPr/>
            </p:nvSpPr>
            <p:spPr bwMode="auto">
              <a:xfrm>
                <a:off x="6798" y="4370"/>
                <a:ext cx="3478" cy="3780"/>
              </a:xfrm>
              <a:prstGeom prst="rect">
                <a:avLst/>
              </a:prstGeom>
              <a:solidFill>
                <a:srgbClr val="FFBB00"/>
              </a:solidFill>
              <a:ln w="762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0421" name="Line 5"/>
              <p:cNvSpPr>
                <a:spLocks noChangeShapeType="1"/>
              </p:cNvSpPr>
              <p:nvPr/>
            </p:nvSpPr>
            <p:spPr bwMode="auto">
              <a:xfrm>
                <a:off x="6773" y="7567"/>
                <a:ext cx="3503" cy="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0422" name="Line 6"/>
              <p:cNvSpPr>
                <a:spLocks noChangeShapeType="1"/>
              </p:cNvSpPr>
              <p:nvPr/>
            </p:nvSpPr>
            <p:spPr bwMode="auto">
              <a:xfrm>
                <a:off x="6798" y="7005"/>
                <a:ext cx="3426" cy="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0423" name="Line 7"/>
              <p:cNvSpPr>
                <a:spLocks noChangeShapeType="1"/>
              </p:cNvSpPr>
              <p:nvPr/>
            </p:nvSpPr>
            <p:spPr bwMode="auto">
              <a:xfrm>
                <a:off x="6798" y="6445"/>
                <a:ext cx="3478" cy="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0424" name="Line 8"/>
              <p:cNvSpPr>
                <a:spLocks noChangeShapeType="1"/>
              </p:cNvSpPr>
              <p:nvPr/>
            </p:nvSpPr>
            <p:spPr bwMode="auto">
              <a:xfrm>
                <a:off x="6773" y="5860"/>
                <a:ext cx="3425" cy="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0425" name="Line 9"/>
              <p:cNvSpPr>
                <a:spLocks noChangeShapeType="1"/>
              </p:cNvSpPr>
              <p:nvPr/>
            </p:nvSpPr>
            <p:spPr bwMode="auto">
              <a:xfrm>
                <a:off x="6773" y="5272"/>
                <a:ext cx="3478" cy="5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0426" name="Rectangle 10"/>
              <p:cNvSpPr>
                <a:spLocks noChangeArrowheads="1"/>
              </p:cNvSpPr>
              <p:nvPr/>
            </p:nvSpPr>
            <p:spPr bwMode="auto">
              <a:xfrm>
                <a:off x="8341" y="7675"/>
                <a:ext cx="490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ea typeface="돋움" pitchFamily="50" charset="-127"/>
                  </a:rPr>
                  <a:t>LLC</a:t>
                </a:r>
                <a:endParaRPr kumimoji="1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60427" name="Rectangle 11"/>
              <p:cNvSpPr>
                <a:spLocks noChangeArrowheads="1"/>
              </p:cNvSpPr>
              <p:nvPr/>
            </p:nvSpPr>
            <p:spPr bwMode="auto">
              <a:xfrm>
                <a:off x="7621" y="7075"/>
                <a:ext cx="1753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ea typeface="돋움" pitchFamily="50" charset="-127"/>
                  </a:rPr>
                  <a:t>ISO NETWORK</a:t>
                </a:r>
                <a:endParaRPr kumimoji="1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60428" name="Rectangle 12"/>
              <p:cNvSpPr>
                <a:spLocks noChangeArrowheads="1"/>
              </p:cNvSpPr>
              <p:nvPr/>
            </p:nvSpPr>
            <p:spPr bwMode="auto">
              <a:xfrm>
                <a:off x="7501" y="6595"/>
                <a:ext cx="1947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ea typeface="돋움" pitchFamily="50" charset="-127"/>
                  </a:rPr>
                  <a:t>ISO TRANSPORT</a:t>
                </a:r>
                <a:endParaRPr kumimoji="1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60429" name="Rectangle 13"/>
              <p:cNvSpPr>
                <a:spLocks noChangeArrowheads="1"/>
              </p:cNvSpPr>
              <p:nvPr/>
            </p:nvSpPr>
            <p:spPr bwMode="auto">
              <a:xfrm>
                <a:off x="7261" y="5995"/>
                <a:ext cx="255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ea typeface="돋움" pitchFamily="50" charset="-127"/>
                  </a:rPr>
                  <a:t>ISO SESSION KERNEL</a:t>
                </a:r>
                <a:endParaRPr kumimoji="1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60430" name="Rectangle 14"/>
              <p:cNvSpPr>
                <a:spLocks noChangeArrowheads="1"/>
              </p:cNvSpPr>
              <p:nvPr/>
            </p:nvSpPr>
            <p:spPr bwMode="auto">
              <a:xfrm>
                <a:off x="7381" y="5395"/>
                <a:ext cx="236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ea typeface="돋움" pitchFamily="50" charset="-127"/>
                  </a:rPr>
                  <a:t>ISO PRESENTATION</a:t>
                </a:r>
                <a:endParaRPr kumimoji="1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60431" name="Rectangle 15"/>
              <p:cNvSpPr>
                <a:spLocks noChangeArrowheads="1"/>
              </p:cNvSpPr>
              <p:nvPr/>
            </p:nvSpPr>
            <p:spPr bwMode="auto">
              <a:xfrm>
                <a:off x="7261" y="4555"/>
                <a:ext cx="2505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ea typeface="돋움" pitchFamily="50" charset="-127"/>
                  </a:rPr>
                  <a:t>ISO Association Control</a:t>
                </a:r>
                <a:endParaRPr kumimoji="1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60432" name="Rectangle 16"/>
              <p:cNvSpPr>
                <a:spLocks noChangeArrowheads="1"/>
              </p:cNvSpPr>
              <p:nvPr/>
            </p:nvSpPr>
            <p:spPr bwMode="auto">
              <a:xfrm>
                <a:off x="10353" y="4518"/>
                <a:ext cx="58" cy="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ko-KR" altLang="ko-KR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ea typeface="돋움" pitchFamily="50" charset="-127"/>
                  </a:rPr>
                  <a:t> </a:t>
                </a:r>
                <a:endParaRPr kumimoji="1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60433" name="Rectangle 17"/>
              <p:cNvSpPr>
                <a:spLocks noChangeArrowheads="1"/>
              </p:cNvSpPr>
              <p:nvPr/>
            </p:nvSpPr>
            <p:spPr bwMode="auto">
              <a:xfrm>
                <a:off x="7261" y="4915"/>
                <a:ext cx="2523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ea typeface="돋움" pitchFamily="50" charset="-127"/>
                  </a:rPr>
                  <a:t>Service Element (ACSE)</a:t>
                </a:r>
                <a:endParaRPr kumimoji="1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60434" name="Rectangle 18"/>
              <p:cNvSpPr>
                <a:spLocks noChangeArrowheads="1"/>
              </p:cNvSpPr>
              <p:nvPr/>
            </p:nvSpPr>
            <p:spPr bwMode="auto">
              <a:xfrm>
                <a:off x="4661" y="6420"/>
                <a:ext cx="1802" cy="1730"/>
              </a:xfrm>
              <a:prstGeom prst="rect">
                <a:avLst/>
              </a:prstGeom>
              <a:solidFill>
                <a:srgbClr val="805D00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0435" name="Line 19"/>
              <p:cNvSpPr>
                <a:spLocks noChangeShapeType="1"/>
              </p:cNvSpPr>
              <p:nvPr/>
            </p:nvSpPr>
            <p:spPr bwMode="auto">
              <a:xfrm>
                <a:off x="4714" y="6980"/>
                <a:ext cx="1775" cy="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0436" name="Rectangle 20"/>
              <p:cNvSpPr>
                <a:spLocks noChangeArrowheads="1"/>
              </p:cNvSpPr>
              <p:nvPr/>
            </p:nvSpPr>
            <p:spPr bwMode="auto">
              <a:xfrm>
                <a:off x="5203" y="6515"/>
                <a:ext cx="481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100" b="1" i="0" u="none" strike="noStrike" cap="none" normalizeH="0" baseline="0">
                    <a:ln>
                      <a:noFill/>
                    </a:ln>
                    <a:solidFill>
                      <a:srgbClr val="FFFF00"/>
                    </a:solidFill>
                    <a:effectLst/>
                    <a:latin typeface="Helvetica" charset="0"/>
                    <a:ea typeface="돋움" pitchFamily="50" charset="-127"/>
                  </a:rPr>
                  <a:t>TCP</a:t>
                </a:r>
                <a:endParaRPr kumimoji="1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60437" name="Rectangle 21"/>
              <p:cNvSpPr>
                <a:spLocks noChangeArrowheads="1"/>
              </p:cNvSpPr>
              <p:nvPr/>
            </p:nvSpPr>
            <p:spPr bwMode="auto">
              <a:xfrm>
                <a:off x="5358" y="7370"/>
                <a:ext cx="241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100" b="1" i="0" u="none" strike="noStrike" cap="none" normalizeH="0" baseline="0">
                    <a:ln>
                      <a:noFill/>
                    </a:ln>
                    <a:solidFill>
                      <a:srgbClr val="FFFF00"/>
                    </a:solidFill>
                    <a:effectLst/>
                    <a:latin typeface="Helvetica" charset="0"/>
                    <a:ea typeface="돋움" pitchFamily="50" charset="-127"/>
                  </a:rPr>
                  <a:t>IP</a:t>
                </a:r>
                <a:endParaRPr kumimoji="1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60438" name="Rectangle 22"/>
              <p:cNvSpPr>
                <a:spLocks noChangeArrowheads="1"/>
              </p:cNvSpPr>
              <p:nvPr/>
            </p:nvSpPr>
            <p:spPr bwMode="auto">
              <a:xfrm>
                <a:off x="4686" y="8445"/>
                <a:ext cx="5667" cy="510"/>
              </a:xfrm>
              <a:prstGeom prst="rect">
                <a:avLst/>
              </a:prstGeom>
              <a:solidFill>
                <a:srgbClr val="24D500"/>
              </a:solidFill>
              <a:ln w="25400">
                <a:solidFill>
                  <a:srgbClr val="24D5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0439" name="Rectangle 23"/>
              <p:cNvSpPr>
                <a:spLocks noChangeArrowheads="1"/>
              </p:cNvSpPr>
              <p:nvPr/>
            </p:nvSpPr>
            <p:spPr bwMode="auto">
              <a:xfrm>
                <a:off x="4501" y="4195"/>
                <a:ext cx="5800" cy="175"/>
              </a:xfrm>
              <a:prstGeom prst="rect">
                <a:avLst/>
              </a:prstGeom>
              <a:blipFill dpi="0" rotWithShape="0">
                <a:blip r:embed="rId3" cstate="print"/>
                <a:srcRect/>
                <a:tile tx="0" ty="0" sx="100000" sy="100000" flip="none" algn="tl"/>
              </a:blip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0440" name="AutoShape 24"/>
              <p:cNvSpPr>
                <a:spLocks noChangeArrowheads="1"/>
              </p:cNvSpPr>
              <p:nvPr/>
            </p:nvSpPr>
            <p:spPr bwMode="auto">
              <a:xfrm>
                <a:off x="4501" y="3595"/>
                <a:ext cx="5760" cy="512"/>
              </a:xfrm>
              <a:prstGeom prst="roundRect">
                <a:avLst>
                  <a:gd name="adj" fmla="val 23912"/>
                </a:avLst>
              </a:prstGeom>
              <a:solidFill>
                <a:srgbClr val="AA7D00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0441" name="Rectangle 25"/>
              <p:cNvSpPr>
                <a:spLocks noChangeArrowheads="1"/>
              </p:cNvSpPr>
              <p:nvPr/>
            </p:nvSpPr>
            <p:spPr bwMode="auto">
              <a:xfrm>
                <a:off x="4501" y="2885"/>
                <a:ext cx="5775" cy="510"/>
              </a:xfrm>
              <a:prstGeom prst="rect">
                <a:avLst/>
              </a:prstGeom>
              <a:solidFill>
                <a:srgbClr val="FF652A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0442" name="AutoShape 26"/>
              <p:cNvSpPr>
                <a:spLocks noChangeArrowheads="1"/>
              </p:cNvSpPr>
              <p:nvPr/>
            </p:nvSpPr>
            <p:spPr bwMode="auto">
              <a:xfrm>
                <a:off x="4609" y="4395"/>
                <a:ext cx="1854" cy="1878"/>
              </a:xfrm>
              <a:prstGeom prst="roundRect">
                <a:avLst>
                  <a:gd name="adj" fmla="val 25000"/>
                </a:avLst>
              </a:prstGeom>
              <a:solidFill>
                <a:srgbClr val="805D00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0443" name="Rectangle 27"/>
              <p:cNvSpPr>
                <a:spLocks noChangeArrowheads="1"/>
              </p:cNvSpPr>
              <p:nvPr/>
            </p:nvSpPr>
            <p:spPr bwMode="auto">
              <a:xfrm>
                <a:off x="5049" y="4543"/>
                <a:ext cx="855" cy="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100" b="1" i="0" u="none" strike="noStrike" cap="none" normalizeH="0" baseline="0">
                    <a:ln>
                      <a:noFill/>
                    </a:ln>
                    <a:solidFill>
                      <a:srgbClr val="FFFF00"/>
                    </a:solidFill>
                    <a:effectLst/>
                    <a:latin typeface="Helvetica" charset="0"/>
                    <a:ea typeface="돋움" pitchFamily="50" charset="-127"/>
                  </a:rPr>
                  <a:t>DICOM</a:t>
                </a:r>
                <a:endParaRPr kumimoji="1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60444" name="Rectangle 28"/>
              <p:cNvSpPr>
                <a:spLocks noChangeArrowheads="1"/>
              </p:cNvSpPr>
              <p:nvPr/>
            </p:nvSpPr>
            <p:spPr bwMode="auto">
              <a:xfrm>
                <a:off x="6076" y="4543"/>
                <a:ext cx="60" cy="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ko-KR" altLang="ko-KR" sz="1100" b="1" i="0" u="none" strike="noStrike" cap="none" normalizeH="0" baseline="0">
                    <a:ln>
                      <a:noFill/>
                    </a:ln>
                    <a:solidFill>
                      <a:srgbClr val="FFFF00"/>
                    </a:solidFill>
                    <a:effectLst/>
                    <a:latin typeface="Helvetica" charset="0"/>
                    <a:ea typeface="돋움" pitchFamily="50" charset="-127"/>
                  </a:rPr>
                  <a:t> </a:t>
                </a:r>
                <a:endParaRPr kumimoji="1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60445" name="Rectangle 29"/>
              <p:cNvSpPr>
                <a:spLocks noChangeArrowheads="1"/>
              </p:cNvSpPr>
              <p:nvPr/>
            </p:nvSpPr>
            <p:spPr bwMode="auto">
              <a:xfrm>
                <a:off x="4686" y="4883"/>
                <a:ext cx="1235" cy="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100" b="1" i="0" u="none" strike="noStrike" cap="none" normalizeH="0" baseline="0">
                    <a:ln>
                      <a:noFill/>
                    </a:ln>
                    <a:solidFill>
                      <a:srgbClr val="FFFF00"/>
                    </a:solidFill>
                    <a:effectLst/>
                    <a:latin typeface="Helvetica" charset="0"/>
                    <a:ea typeface="돋움" pitchFamily="50" charset="-127"/>
                  </a:rPr>
                  <a:t>Upper layer</a:t>
                </a:r>
                <a:endParaRPr kumimoji="1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60446" name="Rectangle 30"/>
              <p:cNvSpPr>
                <a:spLocks noChangeArrowheads="1"/>
              </p:cNvSpPr>
              <p:nvPr/>
            </p:nvSpPr>
            <p:spPr bwMode="auto">
              <a:xfrm>
                <a:off x="6386" y="4883"/>
                <a:ext cx="63" cy="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ko-KR" altLang="ko-KR" sz="1100" b="1" i="0" u="none" strike="noStrike" cap="none" normalizeH="0" baseline="0">
                    <a:ln>
                      <a:noFill/>
                    </a:ln>
                    <a:solidFill>
                      <a:srgbClr val="FFFF00"/>
                    </a:solidFill>
                    <a:effectLst/>
                    <a:latin typeface="Helvetica" charset="0"/>
                    <a:ea typeface="돋움" pitchFamily="50" charset="-127"/>
                  </a:rPr>
                  <a:t> </a:t>
                </a:r>
                <a:endParaRPr kumimoji="1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60447" name="Rectangle 31"/>
              <p:cNvSpPr>
                <a:spLocks noChangeArrowheads="1"/>
              </p:cNvSpPr>
              <p:nvPr/>
            </p:nvSpPr>
            <p:spPr bwMode="auto">
              <a:xfrm>
                <a:off x="4946" y="5225"/>
                <a:ext cx="853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100" b="1" i="0" u="none" strike="noStrike" cap="none" normalizeH="0" baseline="0">
                    <a:ln>
                      <a:noFill/>
                    </a:ln>
                    <a:solidFill>
                      <a:srgbClr val="FFFF00"/>
                    </a:solidFill>
                    <a:effectLst/>
                    <a:latin typeface="Helvetica" charset="0"/>
                    <a:ea typeface="돋움" pitchFamily="50" charset="-127"/>
                  </a:rPr>
                  <a:t>protocol</a:t>
                </a:r>
                <a:endParaRPr kumimoji="1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60448" name="Rectangle 32"/>
              <p:cNvSpPr>
                <a:spLocks noChangeArrowheads="1"/>
              </p:cNvSpPr>
              <p:nvPr/>
            </p:nvSpPr>
            <p:spPr bwMode="auto">
              <a:xfrm>
                <a:off x="6181" y="5225"/>
                <a:ext cx="57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ko-KR" altLang="ko-KR" sz="1100" b="1" i="0" u="none" strike="noStrike" cap="none" normalizeH="0" baseline="0">
                    <a:ln>
                      <a:noFill/>
                    </a:ln>
                    <a:solidFill>
                      <a:srgbClr val="FFFF00"/>
                    </a:solidFill>
                    <a:effectLst/>
                    <a:latin typeface="Helvetica" charset="0"/>
                    <a:ea typeface="돋움" pitchFamily="50" charset="-127"/>
                  </a:rPr>
                  <a:t> </a:t>
                </a:r>
                <a:endParaRPr kumimoji="1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60449" name="Rectangle 33"/>
              <p:cNvSpPr>
                <a:spLocks noChangeArrowheads="1"/>
              </p:cNvSpPr>
              <p:nvPr/>
            </p:nvSpPr>
            <p:spPr bwMode="auto">
              <a:xfrm>
                <a:off x="4816" y="5567"/>
                <a:ext cx="1155" cy="2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100" b="1" i="0" u="none" strike="noStrike" cap="none" normalizeH="0" baseline="0">
                    <a:ln>
                      <a:noFill/>
                    </a:ln>
                    <a:solidFill>
                      <a:srgbClr val="FFFF00"/>
                    </a:solidFill>
                    <a:effectLst/>
                    <a:latin typeface="Helvetica" charset="0"/>
                    <a:ea typeface="돋움" pitchFamily="50" charset="-127"/>
                  </a:rPr>
                  <a:t>for TCP/IP</a:t>
                </a:r>
                <a:endParaRPr kumimoji="1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60450" name="Rectangle 34"/>
              <p:cNvSpPr>
                <a:spLocks noChangeArrowheads="1"/>
              </p:cNvSpPr>
              <p:nvPr/>
            </p:nvSpPr>
            <p:spPr bwMode="auto">
              <a:xfrm>
                <a:off x="6309" y="5567"/>
                <a:ext cx="62" cy="2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ko-KR" altLang="ko-KR" sz="1100" b="1" i="0" u="none" strike="noStrike" cap="none" normalizeH="0" baseline="0">
                    <a:ln>
                      <a:noFill/>
                    </a:ln>
                    <a:solidFill>
                      <a:srgbClr val="FFFF00"/>
                    </a:solidFill>
                    <a:effectLst/>
                    <a:latin typeface="Helvetica" charset="0"/>
                    <a:ea typeface="돋움" pitchFamily="50" charset="-127"/>
                  </a:rPr>
                  <a:t> </a:t>
                </a:r>
                <a:endParaRPr kumimoji="1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60451" name="Rectangle 35"/>
              <p:cNvSpPr>
                <a:spLocks noChangeArrowheads="1"/>
              </p:cNvSpPr>
              <p:nvPr/>
            </p:nvSpPr>
            <p:spPr bwMode="auto">
              <a:xfrm>
                <a:off x="5668" y="8515"/>
                <a:ext cx="2775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ea typeface="돋움" pitchFamily="50" charset="-127"/>
                  </a:rPr>
                  <a:t>Ethernet, FDDI, ISDN, etc.</a:t>
                </a:r>
                <a:endParaRPr kumimoji="1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60452" name="Rectangle 36"/>
              <p:cNvSpPr>
                <a:spLocks noChangeArrowheads="1"/>
              </p:cNvSpPr>
              <p:nvPr/>
            </p:nvSpPr>
            <p:spPr bwMode="auto">
              <a:xfrm>
                <a:off x="5941" y="3715"/>
                <a:ext cx="281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ea typeface="돋움" pitchFamily="50" charset="-127"/>
                  </a:rPr>
                  <a:t>DICOM Application Entity</a:t>
                </a:r>
                <a:endParaRPr kumimoji="1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60453" name="Rectangle 37"/>
              <p:cNvSpPr>
                <a:spLocks noChangeArrowheads="1"/>
              </p:cNvSpPr>
              <p:nvPr/>
            </p:nvSpPr>
            <p:spPr bwMode="auto">
              <a:xfrm>
                <a:off x="5941" y="2995"/>
                <a:ext cx="3003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just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ea typeface="돋움" pitchFamily="50" charset="-127"/>
                  </a:rPr>
                  <a:t>Medical Imaging Application</a:t>
                </a:r>
                <a:endParaRPr kumimoji="1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굴림" pitchFamily="50" charset="-127"/>
                  <a:ea typeface="굴림" pitchFamily="50" charset="-127"/>
                </a:endParaRPr>
              </a:p>
            </p:txBody>
          </p:sp>
        </p:grpSp>
        <p:sp>
          <p:nvSpPr>
            <p:cNvPr id="60454" name="Line 38"/>
            <p:cNvSpPr>
              <a:spLocks noChangeShapeType="1"/>
            </p:cNvSpPr>
            <p:nvPr/>
          </p:nvSpPr>
          <p:spPr bwMode="auto">
            <a:xfrm>
              <a:off x="2501" y="4145"/>
              <a:ext cx="11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455" name="Text Box 39"/>
            <p:cNvSpPr txBox="1">
              <a:spLocks noChangeArrowheads="1"/>
            </p:cNvSpPr>
            <p:nvPr/>
          </p:nvSpPr>
          <p:spPr bwMode="auto">
            <a:xfrm>
              <a:off x="2104" y="4505"/>
              <a:ext cx="1500" cy="126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100" b="1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ISO Upper</a:t>
              </a:r>
            </a:p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100" b="1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itchFamily="18" charset="0"/>
                  <a:ea typeface="바탕체" pitchFamily="17" charset="-127"/>
                </a:rPr>
                <a:t>Layer Service boundary</a:t>
              </a: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60456" name="Line 40"/>
            <p:cNvSpPr>
              <a:spLocks noChangeShapeType="1"/>
            </p:cNvSpPr>
            <p:nvPr/>
          </p:nvSpPr>
          <p:spPr bwMode="auto">
            <a:xfrm>
              <a:off x="2501" y="4145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214282" y="324129"/>
            <a:ext cx="29763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3. DICOM Network</a:t>
            </a:r>
            <a:endParaRPr lang="en-US" altLang="ko-KR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285720" y="1000108"/>
            <a:ext cx="42481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3.3</a:t>
            </a:r>
            <a:r>
              <a:rPr lang="en-US" b="1" dirty="0"/>
              <a:t>. </a:t>
            </a:r>
            <a:r>
              <a:rPr lang="en-US" altLang="ko-KR" b="1" dirty="0"/>
              <a:t>Association Negotiation</a:t>
            </a:r>
          </a:p>
        </p:txBody>
      </p:sp>
      <p:pic>
        <p:nvPicPr>
          <p:cNvPr id="61442" name="Picture 2" descr="Association Negotiatio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2976" y="1571612"/>
            <a:ext cx="6804272" cy="5445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214282" y="324129"/>
            <a:ext cx="29763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3. DICOM Network</a:t>
            </a:r>
            <a:endParaRPr lang="en-US" altLang="ko-KR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285720" y="1000108"/>
            <a:ext cx="842968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400" b="1"/>
              <a:t>3.4</a:t>
            </a:r>
            <a:r>
              <a:rPr lang="en-US" sz="1400" b="1" dirty="0"/>
              <a:t>. </a:t>
            </a:r>
            <a:r>
              <a:rPr lang="en-US" altLang="ko-KR" sz="1400" b="1" dirty="0"/>
              <a:t>Service Class User (SCU), Service Class Provider(SCP), Conformance Statement </a:t>
            </a:r>
          </a:p>
        </p:txBody>
      </p:sp>
      <p:grpSp>
        <p:nvGrpSpPr>
          <p:cNvPr id="62466" name="Group 2"/>
          <p:cNvGrpSpPr>
            <a:grpSpLocks/>
          </p:cNvGrpSpPr>
          <p:nvPr/>
        </p:nvGrpSpPr>
        <p:grpSpPr bwMode="auto">
          <a:xfrm>
            <a:off x="328584" y="1885944"/>
            <a:ext cx="3643338" cy="2714644"/>
            <a:chOff x="1152" y="1248"/>
            <a:chExt cx="2064" cy="1872"/>
          </a:xfrm>
        </p:grpSpPr>
        <p:pic>
          <p:nvPicPr>
            <p:cNvPr id="62467" name="Picture 3" descr="ct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344" y="1536"/>
              <a:ext cx="415" cy="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2468" name="Picture 4" descr="6-PIVIEWSTANDARD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016" y="2112"/>
              <a:ext cx="576" cy="373"/>
            </a:xfrm>
            <a:prstGeom prst="rect">
              <a:avLst/>
            </a:prstGeom>
            <a:noFill/>
          </p:spPr>
        </p:pic>
        <p:pic>
          <p:nvPicPr>
            <p:cNvPr id="62469" name="Picture 5" descr="6-PIVIEWSTANDARD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736" y="1488"/>
              <a:ext cx="480" cy="311"/>
            </a:xfrm>
            <a:prstGeom prst="rect">
              <a:avLst/>
            </a:prstGeom>
            <a:noFill/>
          </p:spPr>
        </p:pic>
        <p:pic>
          <p:nvPicPr>
            <p:cNvPr id="62470" name="Picture 6" descr="mri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344" y="2688"/>
              <a:ext cx="432" cy="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2471" name="Picture 7" descr="초음파1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880" y="2640"/>
              <a:ext cx="270" cy="480"/>
            </a:xfrm>
            <a:prstGeom prst="rect">
              <a:avLst/>
            </a:prstGeom>
            <a:noFill/>
          </p:spPr>
        </p:pic>
        <p:sp>
          <p:nvSpPr>
            <p:cNvPr id="62472" name="Line 8"/>
            <p:cNvSpPr>
              <a:spLocks noChangeShapeType="1"/>
            </p:cNvSpPr>
            <p:nvPr/>
          </p:nvSpPr>
          <p:spPr bwMode="auto">
            <a:xfrm>
              <a:off x="1680" y="1920"/>
              <a:ext cx="384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200" b="1"/>
            </a:p>
          </p:txBody>
        </p:sp>
        <p:sp>
          <p:nvSpPr>
            <p:cNvPr id="62473" name="Line 9"/>
            <p:cNvSpPr>
              <a:spLocks noChangeShapeType="1"/>
            </p:cNvSpPr>
            <p:nvPr/>
          </p:nvSpPr>
          <p:spPr bwMode="auto">
            <a:xfrm flipV="1">
              <a:off x="1824" y="2496"/>
              <a:ext cx="24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200" b="1"/>
            </a:p>
          </p:txBody>
        </p:sp>
        <p:sp>
          <p:nvSpPr>
            <p:cNvPr id="62474" name="Line 10"/>
            <p:cNvSpPr>
              <a:spLocks noChangeShapeType="1"/>
            </p:cNvSpPr>
            <p:nvPr/>
          </p:nvSpPr>
          <p:spPr bwMode="auto">
            <a:xfrm flipH="1" flipV="1">
              <a:off x="2592" y="2496"/>
              <a:ext cx="24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200" b="1"/>
            </a:p>
          </p:txBody>
        </p:sp>
        <p:sp>
          <p:nvSpPr>
            <p:cNvPr id="62475" name="Line 11"/>
            <p:cNvSpPr>
              <a:spLocks noChangeShapeType="1"/>
            </p:cNvSpPr>
            <p:nvPr/>
          </p:nvSpPr>
          <p:spPr bwMode="auto">
            <a:xfrm flipH="1">
              <a:off x="2496" y="1824"/>
              <a:ext cx="336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200" b="1"/>
            </a:p>
          </p:txBody>
        </p:sp>
        <p:sp>
          <p:nvSpPr>
            <p:cNvPr id="62476" name="Text Box 12"/>
            <p:cNvSpPr txBox="1">
              <a:spLocks noChangeArrowheads="1"/>
            </p:cNvSpPr>
            <p:nvPr/>
          </p:nvSpPr>
          <p:spPr bwMode="auto">
            <a:xfrm>
              <a:off x="1680" y="1248"/>
              <a:ext cx="120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굴림" pitchFamily="50" charset="-127"/>
                  <a:ea typeface="굴림" pitchFamily="50" charset="-127"/>
                </a:rPr>
                <a:t>DICOM Storage SCP / SCU</a:t>
              </a:r>
              <a:endParaRPr kumimoji="1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62477" name="Text Box 13"/>
            <p:cNvSpPr txBox="1">
              <a:spLocks noChangeArrowheads="1"/>
            </p:cNvSpPr>
            <p:nvPr/>
          </p:nvSpPr>
          <p:spPr bwMode="auto">
            <a:xfrm>
              <a:off x="2160" y="1968"/>
              <a:ext cx="33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>
                  <a:ln>
                    <a:noFill/>
                  </a:ln>
                  <a:solidFill>
                    <a:srgbClr val="FF0066"/>
                  </a:solidFill>
                  <a:effectLst/>
                  <a:latin typeface="굴림" pitchFamily="50" charset="-127"/>
                  <a:ea typeface="굴림" pitchFamily="50" charset="-127"/>
                </a:rPr>
                <a:t>SCP</a:t>
              </a:r>
              <a:r>
                <a:rPr kumimoji="1" lang="en-US" altLang="ko-KR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굴림" pitchFamily="50" charset="-127"/>
                  <a:ea typeface="굴림" pitchFamily="50" charset="-127"/>
                </a:rPr>
                <a:t> </a:t>
              </a:r>
              <a:endParaRPr kumimoji="1" lang="ko-KR" altLang="ko-KR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62478" name="Text Box 14"/>
            <p:cNvSpPr txBox="1">
              <a:spLocks noChangeArrowheads="1"/>
            </p:cNvSpPr>
            <p:nvPr/>
          </p:nvSpPr>
          <p:spPr bwMode="auto">
            <a:xfrm>
              <a:off x="1152" y="1488"/>
              <a:ext cx="33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굴림" pitchFamily="50" charset="-127"/>
                  <a:ea typeface="굴림" pitchFamily="50" charset="-127"/>
                </a:rPr>
                <a:t>SCU </a:t>
              </a:r>
              <a:endParaRPr kumimoji="1" lang="ko-KR" altLang="ko-KR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62479" name="Text Box 15"/>
            <p:cNvSpPr txBox="1">
              <a:spLocks noChangeArrowheads="1"/>
            </p:cNvSpPr>
            <p:nvPr/>
          </p:nvSpPr>
          <p:spPr bwMode="auto">
            <a:xfrm>
              <a:off x="1200" y="2544"/>
              <a:ext cx="33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굴림" pitchFamily="50" charset="-127"/>
                  <a:ea typeface="굴림" pitchFamily="50" charset="-127"/>
                </a:rPr>
                <a:t>SCU </a:t>
              </a:r>
              <a:endParaRPr kumimoji="1" lang="ko-KR" altLang="ko-KR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62480" name="Text Box 16"/>
            <p:cNvSpPr txBox="1">
              <a:spLocks noChangeArrowheads="1"/>
            </p:cNvSpPr>
            <p:nvPr/>
          </p:nvSpPr>
          <p:spPr bwMode="auto">
            <a:xfrm>
              <a:off x="2880" y="2448"/>
              <a:ext cx="33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굴림" pitchFamily="50" charset="-127"/>
                  <a:ea typeface="굴림" pitchFamily="50" charset="-127"/>
                </a:rPr>
                <a:t>SCU </a:t>
              </a:r>
              <a:endParaRPr kumimoji="1" lang="ko-KR" altLang="ko-KR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62481" name="Text Box 17"/>
            <p:cNvSpPr txBox="1">
              <a:spLocks noChangeArrowheads="1"/>
            </p:cNvSpPr>
            <p:nvPr/>
          </p:nvSpPr>
          <p:spPr bwMode="auto">
            <a:xfrm>
              <a:off x="2832" y="1824"/>
              <a:ext cx="33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굴림" pitchFamily="50" charset="-127"/>
                  <a:ea typeface="굴림" pitchFamily="50" charset="-127"/>
                </a:rPr>
                <a:t>SCU </a:t>
              </a:r>
              <a:endParaRPr kumimoji="1" lang="ko-KR" altLang="ko-KR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</p:grpSp>
      <p:grpSp>
        <p:nvGrpSpPr>
          <p:cNvPr id="62482" name="Group 18"/>
          <p:cNvGrpSpPr>
            <a:grpSpLocks/>
          </p:cNvGrpSpPr>
          <p:nvPr/>
        </p:nvGrpSpPr>
        <p:grpSpPr bwMode="auto">
          <a:xfrm>
            <a:off x="4214810" y="3571876"/>
            <a:ext cx="4778384" cy="2501906"/>
            <a:chOff x="1701" y="2811"/>
            <a:chExt cx="8600" cy="4760"/>
          </a:xfrm>
        </p:grpSpPr>
        <p:pic>
          <p:nvPicPr>
            <p:cNvPr id="62483" name="Picture 19" descr="ri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221" y="2991"/>
              <a:ext cx="1249" cy="1440"/>
            </a:xfrm>
            <a:prstGeom prst="rect">
              <a:avLst/>
            </a:prstGeom>
            <a:noFill/>
          </p:spPr>
        </p:pic>
        <p:pic>
          <p:nvPicPr>
            <p:cNvPr id="62484" name="Picture 20" descr="server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7981" y="3243"/>
              <a:ext cx="1560" cy="1205"/>
            </a:xfrm>
            <a:prstGeom prst="rect">
              <a:avLst/>
            </a:prstGeom>
            <a:noFill/>
          </p:spPr>
        </p:pic>
        <p:sp>
          <p:nvSpPr>
            <p:cNvPr id="62485" name="Line 21"/>
            <p:cNvSpPr>
              <a:spLocks noChangeShapeType="1"/>
            </p:cNvSpPr>
            <p:nvPr/>
          </p:nvSpPr>
          <p:spPr bwMode="auto">
            <a:xfrm>
              <a:off x="4201" y="3785"/>
              <a:ext cx="3420" cy="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arrow" w="med" len="med"/>
              <a:tailEnd type="arrow" w="med" len="med"/>
            </a:ln>
            <a:effectLst/>
          </p:spPr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486" name="Text Box 22"/>
            <p:cNvSpPr txBox="1">
              <a:spLocks noChangeArrowheads="1"/>
            </p:cNvSpPr>
            <p:nvPr/>
          </p:nvSpPr>
          <p:spPr bwMode="auto">
            <a:xfrm>
              <a:off x="4381" y="2811"/>
              <a:ext cx="2880" cy="79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바탕" pitchFamily="18" charset="-127"/>
                  <a:ea typeface="맑은 고딕" pitchFamily="50" charset="-127"/>
                </a:rPr>
                <a:t>연동 가능한가 </a:t>
              </a:r>
              <a:r>
                <a:rPr kumimoji="1" lang="en-US" altLang="ko-KR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바탕" pitchFamily="18" charset="-127"/>
                  <a:ea typeface="맑은 고딕" pitchFamily="50" charset="-127"/>
                </a:rPr>
                <a:t>?</a:t>
              </a:r>
            </a:p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pic>
          <p:nvPicPr>
            <p:cNvPr id="62487" name="Picture 23" descr="oldbook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1861" y="5723"/>
              <a:ext cx="1920" cy="1260"/>
            </a:xfrm>
            <a:prstGeom prst="rect">
              <a:avLst/>
            </a:prstGeom>
            <a:noFill/>
          </p:spPr>
        </p:pic>
        <p:pic>
          <p:nvPicPr>
            <p:cNvPr id="62488" name="Picture 24" descr="oldbook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7801" y="5543"/>
              <a:ext cx="1920" cy="1260"/>
            </a:xfrm>
            <a:prstGeom prst="rect">
              <a:avLst/>
            </a:prstGeom>
            <a:noFill/>
          </p:spPr>
        </p:pic>
        <p:sp>
          <p:nvSpPr>
            <p:cNvPr id="62489" name="Line 25"/>
            <p:cNvSpPr>
              <a:spLocks noChangeShapeType="1"/>
            </p:cNvSpPr>
            <p:nvPr/>
          </p:nvSpPr>
          <p:spPr bwMode="auto">
            <a:xfrm>
              <a:off x="4381" y="6335"/>
              <a:ext cx="3240" cy="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arrow" w="med" len="med"/>
              <a:tailEnd type="arrow" w="med" len="med"/>
            </a:ln>
            <a:effectLst/>
          </p:spPr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490" name="Text Box 26"/>
            <p:cNvSpPr txBox="1">
              <a:spLocks noChangeArrowheads="1"/>
            </p:cNvSpPr>
            <p:nvPr/>
          </p:nvSpPr>
          <p:spPr bwMode="auto">
            <a:xfrm>
              <a:off x="4272" y="5665"/>
              <a:ext cx="3620" cy="5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바탕" pitchFamily="18" charset="-127"/>
                  <a:ea typeface="맑은 고딕" pitchFamily="50" charset="-127"/>
                </a:rPr>
                <a:t>Conformance Statement </a:t>
              </a:r>
              <a:r>
                <a: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바탕" pitchFamily="18" charset="-127"/>
                  <a:ea typeface="맑은 고딕" pitchFamily="50" charset="-127"/>
                </a:rPr>
                <a:t>비교</a:t>
              </a: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62491" name="Line 27"/>
            <p:cNvSpPr>
              <a:spLocks noChangeShapeType="1"/>
            </p:cNvSpPr>
            <p:nvPr/>
          </p:nvSpPr>
          <p:spPr bwMode="auto">
            <a:xfrm>
              <a:off x="6001" y="4068"/>
              <a:ext cx="0" cy="126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492" name="Text Box 28"/>
            <p:cNvSpPr txBox="1">
              <a:spLocks noChangeArrowheads="1"/>
            </p:cNvSpPr>
            <p:nvPr/>
          </p:nvSpPr>
          <p:spPr bwMode="auto">
            <a:xfrm>
              <a:off x="6181" y="4248"/>
              <a:ext cx="1440" cy="79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바탕" pitchFamily="18" charset="-127"/>
                  <a:ea typeface="맑은 고딕" pitchFamily="50" charset="-127"/>
                </a:rPr>
                <a:t>HOW ?</a:t>
              </a:r>
            </a:p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62493" name="Text Box 29"/>
            <p:cNvSpPr txBox="1">
              <a:spLocks noChangeArrowheads="1"/>
            </p:cNvSpPr>
            <p:nvPr/>
          </p:nvSpPr>
          <p:spPr bwMode="auto">
            <a:xfrm>
              <a:off x="1701" y="4325"/>
              <a:ext cx="1980" cy="90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바탕" pitchFamily="18" charset="-127"/>
                  <a:ea typeface="맑은 고딕" pitchFamily="50" charset="-127"/>
                </a:rPr>
                <a:t>Modality A</a:t>
              </a:r>
            </a:p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62494" name="Text Box 30"/>
            <p:cNvSpPr txBox="1">
              <a:spLocks noChangeArrowheads="1"/>
            </p:cNvSpPr>
            <p:nvPr/>
          </p:nvSpPr>
          <p:spPr bwMode="auto">
            <a:xfrm>
              <a:off x="7801" y="4325"/>
              <a:ext cx="1980" cy="90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바탕" pitchFamily="18" charset="-127"/>
                  <a:ea typeface="맑은 고딕" pitchFamily="50" charset="-127"/>
                </a:rPr>
                <a:t>Modality B</a:t>
              </a:r>
            </a:p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62495" name="Text Box 31"/>
            <p:cNvSpPr txBox="1">
              <a:spLocks noChangeArrowheads="1"/>
            </p:cNvSpPr>
            <p:nvPr/>
          </p:nvSpPr>
          <p:spPr bwMode="auto">
            <a:xfrm>
              <a:off x="1701" y="6845"/>
              <a:ext cx="3140" cy="72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바탕" pitchFamily="18" charset="-127"/>
                  <a:ea typeface="맑은 고딕" pitchFamily="50" charset="-127"/>
                </a:rPr>
                <a:t>A</a:t>
              </a:r>
              <a:r>
                <a: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바탕" pitchFamily="18" charset="-127"/>
                  <a:ea typeface="맑은 고딕" pitchFamily="50" charset="-127"/>
                </a:rPr>
                <a:t>의</a:t>
              </a:r>
              <a:r>
                <a:rPr kumimoji="1" lang="en-US" altLang="ko-KR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바탕" pitchFamily="18" charset="-127"/>
                  <a:ea typeface="맑은 고딕" pitchFamily="50" charset="-127"/>
                </a:rPr>
                <a:t>Conformance Statement </a:t>
              </a:r>
            </a:p>
            <a:p>
              <a:pPr marL="0" marR="0" lvl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62496" name="Text Box 32"/>
            <p:cNvSpPr txBox="1">
              <a:spLocks noChangeArrowheads="1"/>
            </p:cNvSpPr>
            <p:nvPr/>
          </p:nvSpPr>
          <p:spPr bwMode="auto">
            <a:xfrm>
              <a:off x="7001" y="6845"/>
              <a:ext cx="3300" cy="72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바탕" pitchFamily="18" charset="-127"/>
                  <a:ea typeface="맑은 고딕" pitchFamily="50" charset="-127"/>
                </a:rPr>
                <a:t>B</a:t>
              </a:r>
              <a:r>
                <a: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바탕" pitchFamily="18" charset="-127"/>
                  <a:ea typeface="맑은 고딕" pitchFamily="50" charset="-127"/>
                </a:rPr>
                <a:t>의 </a:t>
              </a:r>
              <a:r>
                <a:rPr kumimoji="1" lang="en-US" altLang="ko-KR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바탕" pitchFamily="18" charset="-127"/>
                  <a:ea typeface="맑은 고딕" pitchFamily="50" charset="-127"/>
                </a:rPr>
                <a:t>Conformance Statement </a:t>
              </a:r>
            </a:p>
            <a:p>
              <a:pPr marL="0" marR="0" lvl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214282" y="324129"/>
            <a:ext cx="29763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3. DICOM Network</a:t>
            </a:r>
            <a:endParaRPr lang="en-US" altLang="ko-KR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Text Box 4"/>
          <p:cNvSpPr txBox="1">
            <a:spLocks noChangeArrowheads="1"/>
          </p:cNvSpPr>
          <p:nvPr/>
        </p:nvSpPr>
        <p:spPr bwMode="auto">
          <a:xfrm>
            <a:off x="285720" y="1000108"/>
            <a:ext cx="42481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3.5</a:t>
            </a:r>
            <a:r>
              <a:rPr lang="en-US" b="1" dirty="0"/>
              <a:t>. </a:t>
            </a:r>
            <a:r>
              <a:rPr lang="en-US" altLang="ko-KR" b="1" dirty="0"/>
              <a:t>Conformance Statement </a:t>
            </a:r>
          </a:p>
        </p:txBody>
      </p:sp>
      <p:pic>
        <p:nvPicPr>
          <p:cNvPr id="63490" name="Picture 2" descr="Conformance Statement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57289" y="1643050"/>
            <a:ext cx="6266073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285720" y="357166"/>
            <a:ext cx="221644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4. </a:t>
            </a:r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DICOM File</a:t>
            </a:r>
            <a:endParaRPr lang="en-US" altLang="ko-KR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305484" y="2270117"/>
            <a:ext cx="965681" cy="511972"/>
          </a:xfrm>
          <a:prstGeom prst="rect">
            <a:avLst/>
          </a:prstGeom>
          <a:noFill/>
          <a:ln w="9525">
            <a:solidFill>
              <a:srgbClr val="40458C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굴림" pitchFamily="50" charset="-127"/>
              </a:rPr>
              <a:t>Data</a:t>
            </a:r>
          </a:p>
          <a:p>
            <a:pPr marL="0" marR="0" lvl="0" indent="0" algn="ju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굴림" pitchFamily="50" charset="-127"/>
              </a:rPr>
              <a:t>element</a:t>
            </a:r>
            <a:endParaRPr kumimoji="1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271165" y="2270117"/>
            <a:ext cx="965681" cy="511972"/>
          </a:xfrm>
          <a:prstGeom prst="rect">
            <a:avLst/>
          </a:prstGeom>
          <a:noFill/>
          <a:ln w="9525">
            <a:solidFill>
              <a:srgbClr val="40458C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굴림" pitchFamily="50" charset="-127"/>
              </a:rPr>
              <a:t>Data</a:t>
            </a: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굴림" pitchFamily="50" charset="-127"/>
              </a:rPr>
              <a:t>element</a:t>
            </a:r>
            <a:endParaRPr kumimoji="1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236845" y="2270117"/>
            <a:ext cx="965681" cy="511972"/>
          </a:xfrm>
          <a:prstGeom prst="rect">
            <a:avLst/>
          </a:prstGeom>
          <a:noFill/>
          <a:ln w="9525">
            <a:solidFill>
              <a:srgbClr val="40458C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굴림" pitchFamily="50" charset="-127"/>
              </a:rPr>
              <a:t>Data</a:t>
            </a: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굴림" pitchFamily="50" charset="-127"/>
              </a:rPr>
              <a:t>element</a:t>
            </a:r>
            <a:endParaRPr kumimoji="1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892467" y="2270117"/>
            <a:ext cx="965681" cy="511972"/>
          </a:xfrm>
          <a:prstGeom prst="rect">
            <a:avLst/>
          </a:prstGeom>
          <a:noFill/>
          <a:ln w="9525">
            <a:solidFill>
              <a:srgbClr val="40458C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굴림" pitchFamily="50" charset="-127"/>
              </a:rPr>
              <a:t>Data</a:t>
            </a: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굴림" pitchFamily="50" charset="-127"/>
              </a:rPr>
              <a:t>element</a:t>
            </a:r>
            <a:endParaRPr kumimoji="1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202526" y="2270117"/>
            <a:ext cx="1689941" cy="511972"/>
          </a:xfrm>
          <a:prstGeom prst="rect">
            <a:avLst/>
          </a:prstGeom>
          <a:noFill/>
          <a:ln w="9525">
            <a:solidFill>
              <a:srgbClr val="40458C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546904" y="3720705"/>
            <a:ext cx="965681" cy="511972"/>
          </a:xfrm>
          <a:prstGeom prst="rect">
            <a:avLst/>
          </a:prstGeom>
          <a:noFill/>
          <a:ln w="9525">
            <a:solidFill>
              <a:srgbClr val="40458C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굴림" pitchFamily="50" charset="-127"/>
              </a:rPr>
              <a:t>Tag</a:t>
            </a: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dirty="0">
                <a:solidFill>
                  <a:srgbClr val="000000"/>
                </a:solidFill>
                <a:latin typeface="Verdana" pitchFamily="34" charset="0"/>
                <a:ea typeface="굴림" pitchFamily="50" charset="-127"/>
              </a:rPr>
              <a:t>(4)</a:t>
            </a:r>
            <a:endParaRPr kumimoji="1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512585" y="3720705"/>
            <a:ext cx="965681" cy="511972"/>
          </a:xfrm>
          <a:prstGeom prst="rect">
            <a:avLst/>
          </a:prstGeom>
          <a:solidFill>
            <a:srgbClr val="B7C1EB"/>
          </a:solidFill>
          <a:ln w="9525">
            <a:solidFill>
              <a:srgbClr val="40458C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굴림" pitchFamily="50" charset="-127"/>
              </a:rPr>
              <a:t>VR</a:t>
            </a: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dirty="0">
                <a:solidFill>
                  <a:srgbClr val="000000"/>
                </a:solidFill>
                <a:latin typeface="Verdana" pitchFamily="34" charset="0"/>
                <a:ea typeface="굴림" pitchFamily="50" charset="-127"/>
              </a:rPr>
              <a:t>(2)</a:t>
            </a:r>
            <a:endParaRPr kumimoji="1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478265" y="3720705"/>
            <a:ext cx="965681" cy="511972"/>
          </a:xfrm>
          <a:prstGeom prst="rect">
            <a:avLst/>
          </a:prstGeom>
          <a:noFill/>
          <a:ln w="9525">
            <a:solidFill>
              <a:srgbClr val="40458C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굴림" pitchFamily="50" charset="-127"/>
              </a:rPr>
              <a:t>Value</a:t>
            </a: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굴림" pitchFamily="50" charset="-127"/>
              </a:rPr>
              <a:t>Length</a:t>
            </a:r>
            <a:b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굴림" pitchFamily="50" charset="-127"/>
              </a:rPr>
            </a:b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굴림" pitchFamily="50" charset="-127"/>
              </a:rPr>
              <a:t>(4)</a:t>
            </a:r>
            <a:endParaRPr kumimoji="1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443946" y="3720705"/>
            <a:ext cx="2253255" cy="511972"/>
          </a:xfrm>
          <a:prstGeom prst="rect">
            <a:avLst/>
          </a:prstGeom>
          <a:noFill/>
          <a:ln w="9525">
            <a:solidFill>
              <a:srgbClr val="40458C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굴림" pitchFamily="50" charset="-127"/>
              </a:rPr>
              <a:t>Value Field</a:t>
            </a:r>
            <a:b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굴림" pitchFamily="50" charset="-127"/>
              </a:rPr>
            </a:b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굴림" pitchFamily="50" charset="-127"/>
              </a:rPr>
              <a:t>(</a:t>
            </a:r>
            <a:r>
              <a:rPr kumimoji="1" lang="en-US" altLang="ko-KR" sz="1200" b="1" dirty="0">
                <a:solidFill>
                  <a:srgbClr val="000000"/>
                </a:solidFill>
                <a:latin typeface="Verdana" pitchFamily="34" charset="0"/>
                <a:ea typeface="굴림" pitchFamily="50" charset="-127"/>
              </a:rPr>
              <a:t>n byte)</a:t>
            </a:r>
            <a:endParaRPr kumimoji="1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 flipH="1">
            <a:off x="2546904" y="2270117"/>
            <a:ext cx="724261" cy="1450588"/>
          </a:xfrm>
          <a:prstGeom prst="line">
            <a:avLst/>
          </a:prstGeom>
          <a:noFill/>
          <a:ln w="9525">
            <a:solidFill>
              <a:srgbClr val="40458C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 flipH="1">
            <a:off x="2788324" y="2782089"/>
            <a:ext cx="482840" cy="938616"/>
          </a:xfrm>
          <a:prstGeom prst="line">
            <a:avLst/>
          </a:prstGeom>
          <a:noFill/>
          <a:ln w="9525">
            <a:solidFill>
              <a:srgbClr val="40458C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>
            <a:off x="4236845" y="2270117"/>
            <a:ext cx="3460356" cy="1450588"/>
          </a:xfrm>
          <a:prstGeom prst="line">
            <a:avLst/>
          </a:prstGeom>
          <a:noFill/>
          <a:ln w="9525">
            <a:solidFill>
              <a:srgbClr val="40458C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>
            <a:off x="4236845" y="2782089"/>
            <a:ext cx="2333728" cy="938616"/>
          </a:xfrm>
          <a:prstGeom prst="line">
            <a:avLst/>
          </a:prstGeom>
          <a:noFill/>
          <a:ln w="9525">
            <a:solidFill>
              <a:srgbClr val="40458C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" name="Line 16"/>
          <p:cNvSpPr>
            <a:spLocks noChangeShapeType="1"/>
          </p:cNvSpPr>
          <p:nvPr/>
        </p:nvSpPr>
        <p:spPr bwMode="auto">
          <a:xfrm>
            <a:off x="5604893" y="2526103"/>
            <a:ext cx="885207" cy="1778"/>
          </a:xfrm>
          <a:prstGeom prst="line">
            <a:avLst/>
          </a:prstGeom>
          <a:noFill/>
          <a:ln w="28575">
            <a:solidFill>
              <a:srgbClr val="40458C"/>
            </a:solidFill>
            <a:prstDash val="sysDot"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2144537" y="1730363"/>
            <a:ext cx="1207101" cy="341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굴림" pitchFamily="50" charset="-127"/>
              </a:rPr>
              <a:t>Data set</a:t>
            </a:r>
            <a:endParaRPr kumimoji="1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4501991" y="1857364"/>
            <a:ext cx="2166866" cy="255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굴림" pitchFamily="50" charset="-127"/>
              </a:rPr>
              <a:t>Order of transmission</a:t>
            </a:r>
            <a:endParaRPr kumimoji="1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0" name="Line 19"/>
          <p:cNvSpPr>
            <a:spLocks noChangeShapeType="1"/>
          </p:cNvSpPr>
          <p:nvPr/>
        </p:nvSpPr>
        <p:spPr bwMode="auto">
          <a:xfrm>
            <a:off x="6329154" y="1965017"/>
            <a:ext cx="1207101" cy="1778"/>
          </a:xfrm>
          <a:prstGeom prst="line">
            <a:avLst/>
          </a:prstGeom>
          <a:noFill/>
          <a:ln w="9525">
            <a:solidFill>
              <a:srgbClr val="40458C"/>
            </a:solidFill>
            <a:miter lim="800000"/>
            <a:headEnd/>
            <a:tailEnd type="triangl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2949271" y="3379390"/>
            <a:ext cx="1689941" cy="341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굴림" pitchFamily="50" charset="-127"/>
              </a:rPr>
              <a:t>Data element</a:t>
            </a:r>
            <a:endParaRPr kumimoji="1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4317319" y="4659321"/>
            <a:ext cx="2655622" cy="341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굴림" pitchFamily="50" charset="-127"/>
              </a:rPr>
              <a:t>Optional field</a:t>
            </a:r>
            <a:endParaRPr kumimoji="1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cxnSp>
        <p:nvCxnSpPr>
          <p:cNvPr id="23" name="AutoShape 22"/>
          <p:cNvCxnSpPr>
            <a:cxnSpLocks noChangeShapeType="1"/>
            <a:stCxn id="10" idx="2"/>
            <a:endCxn id="22" idx="1"/>
          </p:cNvCxnSpPr>
          <p:nvPr/>
        </p:nvCxnSpPr>
        <p:spPr bwMode="auto">
          <a:xfrm rot="16200000" flipH="1">
            <a:off x="3857721" y="4370381"/>
            <a:ext cx="597301" cy="321894"/>
          </a:xfrm>
          <a:prstGeom prst="bentConnector2">
            <a:avLst/>
          </a:prstGeom>
          <a:noFill/>
          <a:ln w="9525">
            <a:solidFill>
              <a:srgbClr val="40458C"/>
            </a:solidFill>
            <a:miter lim="800000"/>
            <a:headEnd/>
            <a:tailEnd type="triangle" w="med" len="med"/>
          </a:ln>
          <a:effectLst/>
        </p:spPr>
      </p:cxnSp>
      <p:sp>
        <p:nvSpPr>
          <p:cNvPr id="24" name="Line 23"/>
          <p:cNvSpPr>
            <a:spLocks noChangeShapeType="1"/>
          </p:cNvSpPr>
          <p:nvPr/>
        </p:nvSpPr>
        <p:spPr bwMode="auto">
          <a:xfrm>
            <a:off x="3271165" y="1933019"/>
            <a:ext cx="1207101" cy="1778"/>
          </a:xfrm>
          <a:prstGeom prst="line">
            <a:avLst/>
          </a:prstGeom>
          <a:noFill/>
          <a:ln w="9525">
            <a:solidFill>
              <a:srgbClr val="40458C"/>
            </a:solidFill>
            <a:miter lim="800000"/>
            <a:headEnd/>
            <a:tailEnd type="triangl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285720" y="5076156"/>
            <a:ext cx="88582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(</a:t>
            </a:r>
            <a:r>
              <a:rPr lang="ko-KR" altLang="en-US" dirty="0"/>
              <a:t>예</a:t>
            </a:r>
            <a:r>
              <a:rPr lang="en-US" dirty="0"/>
              <a:t>) Tag (0028,0101)</a:t>
            </a:r>
            <a:r>
              <a:rPr lang="en-US" dirty="0">
                <a:sym typeface="Wingdings"/>
              </a:rPr>
              <a:t></a:t>
            </a:r>
            <a:r>
              <a:rPr lang="en-US" dirty="0"/>
              <a:t> Bits Stored , Length </a:t>
            </a:r>
            <a:r>
              <a:rPr lang="en-US" dirty="0">
                <a:sym typeface="Wingdings"/>
              </a:rPr>
              <a:t></a:t>
            </a:r>
            <a:r>
              <a:rPr lang="en-US" dirty="0"/>
              <a:t>2 (00000002), Value </a:t>
            </a:r>
            <a:r>
              <a:rPr lang="en-US" dirty="0">
                <a:sym typeface="Wingdings"/>
              </a:rPr>
              <a:t></a:t>
            </a:r>
            <a:r>
              <a:rPr lang="en-US" dirty="0"/>
              <a:t> 8 (0008)</a:t>
            </a:r>
            <a:endParaRPr lang="ko-KR" altLang="en-US" dirty="0"/>
          </a:p>
        </p:txBody>
      </p:sp>
      <p:graphicFrame>
        <p:nvGraphicFramePr>
          <p:cNvPr id="26" name="표 25"/>
          <p:cNvGraphicFramePr>
            <a:graphicFrameLocks noGrp="1"/>
          </p:cNvGraphicFramePr>
          <p:nvPr/>
        </p:nvGraphicFramePr>
        <p:xfrm>
          <a:off x="857224" y="5576222"/>
          <a:ext cx="6143670" cy="222885"/>
        </p:xfrm>
        <a:graphic>
          <a:graphicData uri="http://schemas.openxmlformats.org/drawingml/2006/table">
            <a:tbl>
              <a:tblPr/>
              <a:tblGrid>
                <a:gridCol w="61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43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43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3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43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43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43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43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43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돋움"/>
                          <a:ea typeface="바탕체"/>
                        </a:rPr>
                        <a:t>28</a:t>
                      </a:r>
                      <a:endParaRPr lang="ko-KR" sz="14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돋움"/>
                          <a:ea typeface="바탕체"/>
                        </a:rPr>
                        <a:t>00</a:t>
                      </a:r>
                      <a:endParaRPr lang="ko-KR" sz="14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돋움"/>
                          <a:ea typeface="바탕체"/>
                        </a:rPr>
                        <a:t>01</a:t>
                      </a:r>
                      <a:endParaRPr lang="ko-KR" sz="14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돋움"/>
                          <a:ea typeface="바탕체"/>
                        </a:rPr>
                        <a:t>01</a:t>
                      </a:r>
                      <a:endParaRPr lang="ko-KR" sz="14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돋움"/>
                          <a:ea typeface="바탕체"/>
                        </a:rPr>
                        <a:t>02</a:t>
                      </a:r>
                      <a:endParaRPr lang="ko-KR" sz="14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돋움"/>
                          <a:ea typeface="바탕체"/>
                        </a:rPr>
                        <a:t>00</a:t>
                      </a:r>
                      <a:endParaRPr lang="ko-KR" sz="14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돋움"/>
                          <a:ea typeface="바탕체"/>
                        </a:rPr>
                        <a:t>00</a:t>
                      </a:r>
                      <a:endParaRPr lang="ko-KR" sz="14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돋움"/>
                          <a:ea typeface="바탕체"/>
                        </a:rPr>
                        <a:t>00</a:t>
                      </a:r>
                      <a:endParaRPr lang="ko-KR" sz="14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돋움"/>
                          <a:ea typeface="바탕체"/>
                        </a:rPr>
                        <a:t>08</a:t>
                      </a:r>
                      <a:endParaRPr lang="ko-KR" sz="14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latin typeface="돋움"/>
                          <a:ea typeface="바탕체"/>
                        </a:rPr>
                        <a:t>00</a:t>
                      </a:r>
                      <a:endParaRPr lang="ko-KR" sz="1400" kern="100" dirty="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oup 24"/>
          <p:cNvGrpSpPr>
            <a:grpSpLocks noChangeAspect="1"/>
          </p:cNvGrpSpPr>
          <p:nvPr/>
        </p:nvGrpSpPr>
        <p:grpSpPr bwMode="auto">
          <a:xfrm>
            <a:off x="841916" y="5933412"/>
            <a:ext cx="6245722" cy="495984"/>
            <a:chOff x="2201" y="14045"/>
            <a:chExt cx="4320" cy="540"/>
          </a:xfrm>
        </p:grpSpPr>
        <p:sp>
          <p:nvSpPr>
            <p:cNvPr id="28" name="Text Box 25"/>
            <p:cNvSpPr txBox="1">
              <a:spLocks noChangeAspect="1" noChangeArrowheads="1"/>
            </p:cNvSpPr>
            <p:nvPr/>
          </p:nvSpPr>
          <p:spPr bwMode="auto">
            <a:xfrm>
              <a:off x="2201" y="14045"/>
              <a:ext cx="700" cy="54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Tag</a:t>
              </a:r>
              <a:endParaRPr kumimoji="1" lang="ko-KR" altLang="ko-K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9" name="Text Box 26"/>
            <p:cNvSpPr txBox="1">
              <a:spLocks noChangeAspect="1" noChangeArrowheads="1"/>
            </p:cNvSpPr>
            <p:nvPr/>
          </p:nvSpPr>
          <p:spPr bwMode="auto">
            <a:xfrm>
              <a:off x="3941" y="14045"/>
              <a:ext cx="1000" cy="54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Length</a:t>
              </a:r>
              <a:endParaRPr kumimoji="1" lang="ko-KR" altLang="ko-K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0" name="Text Box 27"/>
            <p:cNvSpPr txBox="1">
              <a:spLocks noChangeAspect="1" noChangeArrowheads="1"/>
            </p:cNvSpPr>
            <p:nvPr/>
          </p:nvSpPr>
          <p:spPr bwMode="auto">
            <a:xfrm>
              <a:off x="5621" y="14045"/>
              <a:ext cx="900" cy="54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Value</a:t>
              </a:r>
              <a:endParaRPr kumimoji="1" lang="ko-KR" altLang="ko-K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</p:grpSp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368144" y="2276467"/>
            <a:ext cx="1428759" cy="511972"/>
          </a:xfrm>
          <a:prstGeom prst="rect">
            <a:avLst/>
          </a:prstGeom>
          <a:noFill/>
          <a:ln w="9525">
            <a:solidFill>
              <a:srgbClr val="40458C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dirty="0">
                <a:latin typeface="Verdana" pitchFamily="34" charset="0"/>
                <a:ea typeface="굴림" pitchFamily="50" charset="-127"/>
              </a:rPr>
              <a:t>Preamble</a:t>
            </a:r>
            <a:br>
              <a:rPr kumimoji="1" lang="en-US" altLang="ko-KR" sz="1200" b="1" dirty="0">
                <a:latin typeface="Verdana" pitchFamily="34" charset="0"/>
                <a:ea typeface="굴림" pitchFamily="50" charset="-127"/>
              </a:rPr>
            </a:br>
            <a:r>
              <a:rPr kumimoji="1" lang="en-US" altLang="ko-KR" sz="1000" b="1" dirty="0">
                <a:latin typeface="Verdana" pitchFamily="34" charset="0"/>
                <a:ea typeface="굴림" pitchFamily="50" charset="-127"/>
              </a:rPr>
              <a:t>(128Bye)</a:t>
            </a:r>
            <a:endParaRPr kumimoji="1" lang="ko-KR" altLang="ko-KR" sz="1000" b="1" dirty="0">
              <a:latin typeface="Verdana" pitchFamily="34" charset="0"/>
              <a:ea typeface="굴림" pitchFamily="50" charset="-127"/>
            </a:endParaRPr>
          </a:p>
        </p:txBody>
      </p:sp>
      <p:sp>
        <p:nvSpPr>
          <p:cNvPr id="32" name="Rectangle 6"/>
          <p:cNvSpPr>
            <a:spLocks noChangeArrowheads="1"/>
          </p:cNvSpPr>
          <p:nvPr/>
        </p:nvSpPr>
        <p:spPr bwMode="auto">
          <a:xfrm>
            <a:off x="1796872" y="2276467"/>
            <a:ext cx="500065" cy="511972"/>
          </a:xfrm>
          <a:prstGeom prst="rect">
            <a:avLst/>
          </a:prstGeom>
          <a:noFill/>
          <a:ln w="9525">
            <a:solidFill>
              <a:srgbClr val="40458C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  <a:ea typeface="굴림" pitchFamily="50" charset="-127"/>
              </a:rPr>
              <a:t>DICM</a:t>
            </a:r>
            <a:br>
              <a:rPr kumimoji="1" lang="en-US" altLang="ko-KR" sz="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  <a:ea typeface="굴림" pitchFamily="50" charset="-127"/>
              </a:rPr>
            </a:br>
            <a:r>
              <a:rPr kumimoji="1" lang="en-US" altLang="ko-KR" sz="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  <a:ea typeface="굴림" pitchFamily="50" charset="-127"/>
              </a:rPr>
              <a:t>(4)</a:t>
            </a:r>
            <a:endParaRPr kumimoji="1" lang="ko-KR" altLang="ko-KR" sz="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  <a:ea typeface="굴림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428596" y="1000108"/>
            <a:ext cx="3737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4.1 Review DICOM DATA format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285720" y="357166"/>
            <a:ext cx="221644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4</a:t>
            </a:r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. DICOM File</a:t>
            </a:r>
            <a:endParaRPr lang="en-US" altLang="ko-KR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428596" y="1000108"/>
            <a:ext cx="31154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4.2 Preamble  and “DICM”</a:t>
            </a:r>
          </a:p>
        </p:txBody>
      </p:sp>
      <p:sp>
        <p:nvSpPr>
          <p:cNvPr id="35" name="Rectangle 1"/>
          <p:cNvSpPr>
            <a:spLocks noChangeArrowheads="1"/>
          </p:cNvSpPr>
          <p:nvPr/>
        </p:nvSpPr>
        <p:spPr bwMode="auto">
          <a:xfrm>
            <a:off x="214282" y="1643050"/>
            <a:ext cx="553549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228600" algn="l"/>
              </a:tabLst>
            </a:pPr>
            <a:r>
              <a:rPr kumimoji="1" lang="en-US" altLang="ko-KR" sz="1400" dirty="0">
                <a:latin typeface="Book Antiqua" pitchFamily="18" charset="0"/>
                <a:ea typeface="바탕체" pitchFamily="17" charset="-127"/>
                <a:cs typeface="Times New Roman" pitchFamily="18" charset="0"/>
              </a:rPr>
              <a:t>  Preamble(128byte) : </a:t>
            </a:r>
            <a:r>
              <a:rPr kumimoji="1" lang="ko-KR" altLang="en-US" sz="1400" dirty="0">
                <a:latin typeface="Book Antiqua" pitchFamily="18" charset="0"/>
                <a:ea typeface="바탕체" pitchFamily="17" charset="-127"/>
                <a:cs typeface="Times New Roman" pitchFamily="18" charset="0"/>
              </a:rPr>
              <a:t> 특별한 사용이나</a:t>
            </a:r>
            <a:r>
              <a:rPr kumimoji="1" lang="en-US" altLang="ko-KR" sz="1400" dirty="0">
                <a:latin typeface="Book Antiqua" pitchFamily="18" charset="0"/>
                <a:ea typeface="바탕체" pitchFamily="17" charset="-127"/>
                <a:cs typeface="Times New Roman" pitchFamily="18" charset="0"/>
              </a:rPr>
              <a:t>,  application profile </a:t>
            </a:r>
            <a:r>
              <a:rPr kumimoji="1" lang="ko-KR" altLang="en-US" sz="1400" dirty="0">
                <a:latin typeface="Book Antiqua" pitchFamily="18" charset="0"/>
                <a:ea typeface="바탕체" pitchFamily="17" charset="-127"/>
                <a:cs typeface="Times New Roman" pitchFamily="18" charset="0"/>
              </a:rPr>
              <a:t>로 이용</a:t>
            </a:r>
          </a:p>
        </p:txBody>
      </p:sp>
      <p:sp>
        <p:nvSpPr>
          <p:cNvPr id="36" name="Rectangle 1"/>
          <p:cNvSpPr>
            <a:spLocks noChangeArrowheads="1"/>
          </p:cNvSpPr>
          <p:nvPr/>
        </p:nvSpPr>
        <p:spPr bwMode="auto">
          <a:xfrm>
            <a:off x="214282" y="2071678"/>
            <a:ext cx="37529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228600" algn="l"/>
              </a:tabLst>
            </a:pPr>
            <a:r>
              <a:rPr kumimoji="1" lang="en-US" altLang="ko-KR" sz="1400" dirty="0">
                <a:latin typeface="Book Antiqua" pitchFamily="18" charset="0"/>
                <a:ea typeface="바탕체" pitchFamily="17" charset="-127"/>
                <a:cs typeface="Times New Roman" pitchFamily="18" charset="0"/>
              </a:rPr>
              <a:t>  DICM </a:t>
            </a:r>
            <a:r>
              <a:rPr kumimoji="1" lang="ko-KR" altLang="en-US" sz="1400" dirty="0">
                <a:latin typeface="Book Antiqua" pitchFamily="18" charset="0"/>
                <a:ea typeface="바탕체" pitchFamily="17" charset="-127"/>
                <a:cs typeface="Times New Roman" pitchFamily="18" charset="0"/>
              </a:rPr>
              <a:t> </a:t>
            </a:r>
            <a:r>
              <a:rPr kumimoji="1" lang="en-US" altLang="ko-KR" sz="1400" dirty="0">
                <a:latin typeface="Book Antiqua" pitchFamily="18" charset="0"/>
                <a:ea typeface="바탕체" pitchFamily="17" charset="-127"/>
                <a:cs typeface="Times New Roman" pitchFamily="18" charset="0"/>
              </a:rPr>
              <a:t>: </a:t>
            </a:r>
            <a:r>
              <a:rPr kumimoji="1" lang="ko-KR" altLang="en-US" sz="1400" dirty="0">
                <a:latin typeface="Book Antiqua" pitchFamily="18" charset="0"/>
                <a:ea typeface="바탕체" pitchFamily="17" charset="-127"/>
                <a:cs typeface="Times New Roman" pitchFamily="18" charset="0"/>
              </a:rPr>
              <a:t>대상파일이 </a:t>
            </a:r>
            <a:r>
              <a:rPr kumimoji="1" lang="en-US" altLang="ko-KR" sz="1400" dirty="0">
                <a:latin typeface="Book Antiqua" pitchFamily="18" charset="0"/>
                <a:ea typeface="바탕체" pitchFamily="17" charset="-127"/>
                <a:cs typeface="Times New Roman" pitchFamily="18" charset="0"/>
              </a:rPr>
              <a:t>DICOM </a:t>
            </a:r>
            <a:r>
              <a:rPr kumimoji="1" lang="ko-KR" altLang="en-US" sz="1400" dirty="0">
                <a:latin typeface="Book Antiqua" pitchFamily="18" charset="0"/>
                <a:ea typeface="바탕체" pitchFamily="17" charset="-127"/>
                <a:cs typeface="Times New Roman" pitchFamily="18" charset="0"/>
              </a:rPr>
              <a:t>인지 아닌지</a:t>
            </a:r>
            <a:r>
              <a:rPr kumimoji="1" lang="en-US" altLang="ko-KR" sz="1400" dirty="0">
                <a:latin typeface="Book Antiqua" pitchFamily="18" charset="0"/>
                <a:ea typeface="바탕체" pitchFamily="17" charset="-127"/>
                <a:cs typeface="Times New Roman" pitchFamily="18" charset="0"/>
              </a:rPr>
              <a:t>? </a:t>
            </a:r>
            <a:endParaRPr kumimoji="1" lang="ko-KR" altLang="en-US" sz="1400" dirty="0">
              <a:latin typeface="Book Antiqua" pitchFamily="18" charset="0"/>
              <a:ea typeface="바탕체" pitchFamily="17" charset="-127"/>
              <a:cs typeface="Times New Roman" pitchFamily="18" charset="0"/>
            </a:endParaRPr>
          </a:p>
        </p:txBody>
      </p:sp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58" y="2500306"/>
            <a:ext cx="4429156" cy="3673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8" name="직사각형 37"/>
          <p:cNvSpPr/>
          <p:nvPr/>
        </p:nvSpPr>
        <p:spPr bwMode="auto">
          <a:xfrm>
            <a:off x="857224" y="2500306"/>
            <a:ext cx="2500330" cy="1285884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가는각진제목체" pitchFamily="18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214414" y="2857496"/>
            <a:ext cx="17059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solidFill>
                  <a:srgbClr val="FF0000"/>
                </a:solidFill>
              </a:rPr>
              <a:t>128byte</a:t>
            </a:r>
            <a:endParaRPr lang="ko-KR" altLang="en-US" sz="3200" dirty="0">
              <a:solidFill>
                <a:srgbClr val="FF0000"/>
              </a:solidFill>
            </a:endParaRPr>
          </a:p>
        </p:txBody>
      </p:sp>
      <p:sp>
        <p:nvSpPr>
          <p:cNvPr id="40" name="직사각형 39"/>
          <p:cNvSpPr/>
          <p:nvPr/>
        </p:nvSpPr>
        <p:spPr bwMode="auto">
          <a:xfrm>
            <a:off x="4429124" y="4143380"/>
            <a:ext cx="642942" cy="246221"/>
          </a:xfrm>
          <a:prstGeom prst="rect">
            <a:avLst/>
          </a:prstGeom>
          <a:noFill/>
          <a:ln w="158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가는각진제목체" pitchFamily="18" charset="-127"/>
              </a:rPr>
              <a:t>DICM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가는각진제목체" pitchFamily="18" charset="-127"/>
            </a:endParaRPr>
          </a:p>
        </p:txBody>
      </p:sp>
      <p:cxnSp>
        <p:nvCxnSpPr>
          <p:cNvPr id="42" name="직선 화살표 연결선 41"/>
          <p:cNvCxnSpPr/>
          <p:nvPr/>
        </p:nvCxnSpPr>
        <p:spPr bwMode="auto">
          <a:xfrm>
            <a:off x="1500166" y="3929066"/>
            <a:ext cx="2928958" cy="357190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6" name="직사각형 45"/>
          <p:cNvSpPr/>
          <p:nvPr/>
        </p:nvSpPr>
        <p:spPr>
          <a:xfrm>
            <a:off x="4643438" y="2000240"/>
            <a:ext cx="4500562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  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       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     byte[] preamble = new byte[132];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  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            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br.Read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(preamble, 0, 132);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  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            if (preamble[128] != 'D' || preamble[129] != 'I' || </a:t>
            </a:r>
            <a:b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</a:b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                preamble[130] != 'C' || preamble[131] != 'M')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  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            {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                  throw new Exception("Not a valid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dicom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file");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                  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            }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100" kern="0" dirty="0">
              <a:solidFill>
                <a:sysClr val="windowText" lastClr="000000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          -------------------------------------</a:t>
            </a:r>
          </a:p>
          <a:p>
            <a:pPr lvl="1" latinLnBrk="0">
              <a:defRPr/>
            </a:pPr>
            <a:r>
              <a:rPr lang="en-US" sz="1100" kern="0" dirty="0">
                <a:solidFill>
                  <a:sysClr val="windowText" lastClr="000000"/>
                </a:solidFill>
              </a:rPr>
              <a:t>while(1)</a:t>
            </a:r>
          </a:p>
          <a:p>
            <a:pPr lvl="1" latinLnBrk="0">
              <a:defRPr/>
            </a:pPr>
            <a:r>
              <a:rPr lang="en-US" sz="1100" kern="0" dirty="0">
                <a:solidFill>
                  <a:sysClr val="windowText" lastClr="000000"/>
                </a:solidFill>
              </a:rPr>
              <a:t> {</a:t>
            </a:r>
          </a:p>
          <a:p>
            <a:pPr lvl="1" latinLnBrk="0">
              <a:defRPr/>
            </a:pPr>
            <a:r>
              <a:rPr lang="en-US" sz="1100" kern="0" dirty="0">
                <a:solidFill>
                  <a:sysClr val="windowText" lastClr="000000"/>
                </a:solidFill>
              </a:rPr>
              <a:t>    if( field-&gt;group == 0x7fe0 &amp;&amp; field-&gt;item == 0x0010 ) break;</a:t>
            </a:r>
            <a:br>
              <a:rPr lang="en-US" sz="1100" kern="0" dirty="0">
                <a:solidFill>
                  <a:sysClr val="windowText" lastClr="000000"/>
                </a:solidFill>
              </a:rPr>
            </a:b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----------------------------------------</a:t>
            </a:r>
          </a:p>
          <a:p>
            <a:pPr lvl="1" latinLnBrk="0">
              <a:defRPr/>
            </a:pPr>
            <a:endParaRPr lang="en-US" sz="1100" kern="0" dirty="0">
              <a:solidFill>
                <a:sysClr val="windowText" lastClr="000000"/>
              </a:solidFill>
            </a:endParaRPr>
          </a:p>
          <a:p>
            <a:pPr lvl="1" latinLnBrk="0">
              <a:defRPr/>
            </a:pPr>
            <a:r>
              <a:rPr lang="en-US" sz="1100" kern="0" dirty="0">
                <a:solidFill>
                  <a:sysClr val="windowText" lastClr="000000"/>
                </a:solidFill>
              </a:rPr>
              <a:t>Case 0030:</a:t>
            </a:r>
          </a:p>
          <a:p>
            <a:pPr lvl="1" latinLnBrk="0">
              <a:defRPr/>
            </a:pPr>
            <a:r>
              <a:rPr lang="en-US" sz="1100" kern="0" dirty="0">
                <a:solidFill>
                  <a:sysClr val="windowText" lastClr="000000"/>
                </a:solidFill>
              </a:rPr>
              <a:t>    </a:t>
            </a:r>
            <a:r>
              <a:rPr lang="en-US" sz="1100" kern="0" dirty="0" err="1">
                <a:solidFill>
                  <a:sysClr val="windowText" lastClr="000000"/>
                </a:solidFill>
              </a:rPr>
              <a:t>memcpy</a:t>
            </a:r>
            <a:r>
              <a:rPr lang="en-US" sz="1100" kern="0" dirty="0">
                <a:solidFill>
                  <a:sysClr val="windowText" lastClr="000000"/>
                </a:solidFill>
              </a:rPr>
              <a:t>(field1.birth, &amp;</a:t>
            </a:r>
            <a:r>
              <a:rPr lang="en-US" sz="1100" kern="0" dirty="0" err="1">
                <a:solidFill>
                  <a:sysClr val="windowText" lastClr="000000"/>
                </a:solidFill>
              </a:rPr>
              <a:t>pData</a:t>
            </a:r>
            <a:r>
              <a:rPr lang="en-US" sz="1100" kern="0" dirty="0">
                <a:solidFill>
                  <a:sysClr val="windowText" lastClr="000000"/>
                </a:solidFill>
              </a:rPr>
              <a:t>[count+8],field-&gt;length);</a:t>
            </a:r>
          </a:p>
          <a:p>
            <a:pPr lvl="1" latinLnBrk="0">
              <a:defRPr/>
            </a:pPr>
            <a:r>
              <a:rPr lang="en-US" sz="1100" kern="0" dirty="0">
                <a:solidFill>
                  <a:sysClr val="windowText" lastClr="000000"/>
                </a:solidFill>
              </a:rPr>
              <a:t>    break;</a:t>
            </a:r>
          </a:p>
          <a:p>
            <a:pPr lvl="1" latinLnBrk="0"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lvl="1" latinLnBrk="0">
              <a:defRPr/>
            </a:pPr>
            <a:r>
              <a:rPr lang="en-US" sz="1100" kern="0" dirty="0">
                <a:solidFill>
                  <a:sysClr val="windowText" lastClr="000000"/>
                </a:solidFill>
              </a:rPr>
              <a:t>}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  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          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1"/>
          <p:cNvSpPr>
            <a:spLocks noChangeArrowheads="1"/>
          </p:cNvSpPr>
          <p:nvPr/>
        </p:nvSpPr>
        <p:spPr bwMode="auto">
          <a:xfrm>
            <a:off x="4714876" y="2143116"/>
            <a:ext cx="4143404" cy="46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</a:pP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28596" y="1000108"/>
            <a:ext cx="33575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4.3. Size</a:t>
            </a:r>
            <a:r>
              <a:rPr lang="ko-KR" altLang="en-US" b="1" dirty="0">
                <a:latin typeface="맑은 고딕" pitchFamily="50" charset="-127"/>
                <a:ea typeface="맑은 고딕" pitchFamily="50" charset="-127"/>
              </a:rPr>
              <a:t>에 제한이 있는 </a:t>
            </a:r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VR 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993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0100" y="1785926"/>
            <a:ext cx="6500858" cy="4564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직사각형 4"/>
          <p:cNvSpPr>
            <a:spLocks noChangeArrowheads="1"/>
          </p:cNvSpPr>
          <p:nvPr/>
        </p:nvSpPr>
        <p:spPr bwMode="auto">
          <a:xfrm>
            <a:off x="285720" y="357166"/>
            <a:ext cx="221644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4</a:t>
            </a:r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. DICOM File</a:t>
            </a:r>
            <a:endParaRPr lang="en-US" altLang="ko-KR" sz="2400" b="1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1"/>
          <p:cNvSpPr>
            <a:spLocks noChangeArrowheads="1"/>
          </p:cNvSpPr>
          <p:nvPr/>
        </p:nvSpPr>
        <p:spPr bwMode="auto">
          <a:xfrm>
            <a:off x="4714876" y="2143116"/>
            <a:ext cx="4143404" cy="46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</a:pP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354444"/>
              </p:ext>
            </p:extLst>
          </p:nvPr>
        </p:nvGraphicFramePr>
        <p:xfrm>
          <a:off x="571472" y="1857364"/>
          <a:ext cx="7858179" cy="3898088"/>
        </p:xfrm>
        <a:graphic>
          <a:graphicData uri="http://schemas.openxmlformats.org/drawingml/2006/table">
            <a:tbl>
              <a:tblPr/>
              <a:tblGrid>
                <a:gridCol w="1696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317838686"/>
                    </a:ext>
                  </a:extLst>
                </a:gridCol>
                <a:gridCol w="407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79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444444"/>
                          </a:solidFill>
                          <a:latin typeface="Helvetica"/>
                        </a:rPr>
                        <a:t>Attribute Name</a:t>
                      </a:r>
                      <a:endParaRPr 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444444"/>
                          </a:solidFill>
                          <a:latin typeface="Helvetica"/>
                        </a:rPr>
                        <a:t>Tag</a:t>
                      </a:r>
                      <a:endParaRPr 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444444"/>
                          </a:solidFill>
                          <a:latin typeface="Helvetica"/>
                        </a:rPr>
                        <a:t>VR</a:t>
                      </a:r>
                      <a:endParaRPr lang="en-US" altLang="ko-KR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444444"/>
                          </a:solidFill>
                          <a:latin typeface="Helvetica"/>
                        </a:rPr>
                        <a:t>Attribute Description</a:t>
                      </a:r>
                      <a:endParaRPr 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52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/>
                        </a:rPr>
                        <a:t>Patient's Name</a:t>
                      </a:r>
                      <a:endParaRPr 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(0010,0010)</a:t>
                      </a:r>
                      <a:endParaRPr lang="ko-KR" altLang="en-US" sz="14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PN</a:t>
                      </a:r>
                      <a:endParaRPr lang="en-US" sz="14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Patient's full name.</a:t>
                      </a: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029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/>
                        </a:rPr>
                        <a:t>Patient ID</a:t>
                      </a:r>
                      <a:endParaRPr 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(0010,0020)</a:t>
                      </a:r>
                      <a:endParaRPr lang="ko-KR" altLang="en-US" sz="14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LO</a:t>
                      </a:r>
                      <a:endParaRPr lang="en-US" sz="14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Primary hospital identification number or code for </a:t>
                      </a:r>
                      <a:r>
                        <a:rPr lang="en-US" sz="14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the patient.</a:t>
                      </a:r>
                      <a:endParaRPr lang="en-US" sz="14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937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/>
                        </a:rPr>
                        <a:t>Patient's Birth Date</a:t>
                      </a:r>
                      <a:endParaRPr 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(0010,0030)</a:t>
                      </a:r>
                      <a:endParaRPr lang="ko-KR" altLang="en-US" sz="140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DA</a:t>
                      </a:r>
                      <a:endParaRPr lang="en-US" sz="14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Birth date of the patient.</a:t>
                      </a: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549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/>
                        </a:rPr>
                        <a:t>Patient's Sex</a:t>
                      </a:r>
                      <a:endParaRPr 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(0010,0040)</a:t>
                      </a:r>
                      <a:endParaRPr lang="ko-KR" altLang="en-US" sz="140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CS</a:t>
                      </a:r>
                      <a:endParaRPr lang="en-US" sz="14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Sex of the named patient. </a:t>
                      </a:r>
                      <a:b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</a:br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Enumerated Values:</a:t>
                      </a:r>
                      <a:b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</a:br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           M = male</a:t>
                      </a:r>
                      <a:b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</a:br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           F = female</a:t>
                      </a:r>
                      <a:b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</a:br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           O = other</a:t>
                      </a: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428596" y="1000108"/>
            <a:ext cx="38576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4.4. DICOM image - Patient </a:t>
            </a:r>
          </a:p>
        </p:txBody>
      </p:sp>
      <p:sp>
        <p:nvSpPr>
          <p:cNvPr id="10" name="직사각형 4"/>
          <p:cNvSpPr>
            <a:spLocks noChangeArrowheads="1"/>
          </p:cNvSpPr>
          <p:nvPr/>
        </p:nvSpPr>
        <p:spPr bwMode="auto">
          <a:xfrm>
            <a:off x="285720" y="357166"/>
            <a:ext cx="221644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4</a:t>
            </a:r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. DICOM File</a:t>
            </a:r>
            <a:endParaRPr lang="en-US" altLang="ko-KR" sz="2400" b="1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1"/>
          <p:cNvSpPr>
            <a:spLocks noChangeArrowheads="1"/>
          </p:cNvSpPr>
          <p:nvPr/>
        </p:nvSpPr>
        <p:spPr bwMode="auto">
          <a:xfrm>
            <a:off x="4714876" y="2143116"/>
            <a:ext cx="4143404" cy="46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</a:pP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28596" y="1000108"/>
            <a:ext cx="38576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4.5. DICOM image - Study 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940954"/>
              </p:ext>
            </p:extLst>
          </p:nvPr>
        </p:nvGraphicFramePr>
        <p:xfrm>
          <a:off x="571472" y="1928802"/>
          <a:ext cx="7643866" cy="3860282"/>
        </p:xfrm>
        <a:graphic>
          <a:graphicData uri="http://schemas.openxmlformats.org/drawingml/2006/table">
            <a:tbl>
              <a:tblPr/>
              <a:tblGrid>
                <a:gridCol w="17710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0775">
                  <a:extLst>
                    <a:ext uri="{9D8B030D-6E8A-4147-A177-3AD203B41FA5}">
                      <a16:colId xmlns:a16="http://schemas.microsoft.com/office/drawing/2014/main" val="3862078383"/>
                    </a:ext>
                  </a:extLst>
                </a:gridCol>
                <a:gridCol w="2811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29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444444"/>
                          </a:solidFill>
                          <a:latin typeface="Helvetica"/>
                        </a:rPr>
                        <a:t>Attribute Name</a:t>
                      </a:r>
                      <a:endParaRPr 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444444"/>
                          </a:solidFill>
                          <a:latin typeface="Helvetica"/>
                        </a:rPr>
                        <a:t>Tag</a:t>
                      </a:r>
                      <a:endParaRPr 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>
                          <a:solidFill>
                            <a:srgbClr val="444444"/>
                          </a:solidFill>
                          <a:latin typeface="Helvetica"/>
                        </a:rPr>
                        <a:t>VR</a:t>
                      </a:r>
                      <a:endParaRPr lang="en-US" altLang="ko-KR" sz="140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444444"/>
                          </a:solidFill>
                          <a:latin typeface="Helvetica"/>
                        </a:rPr>
                        <a:t>Attribute Description</a:t>
                      </a:r>
                      <a:endParaRPr 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549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/>
                        </a:rPr>
                        <a:t>Study Instance UID</a:t>
                      </a:r>
                      <a:endParaRPr 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(0020,000D)</a:t>
                      </a: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UI</a:t>
                      </a:r>
                      <a:endParaRPr lang="en-US" sz="14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Unique identifier for the Study.</a:t>
                      </a: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24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/>
                        </a:rPr>
                        <a:t>Study Date</a:t>
                      </a:r>
                      <a:endParaRPr 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(0008,0020)</a:t>
                      </a:r>
                      <a:endParaRPr lang="ko-KR" altLang="en-US" sz="140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DA</a:t>
                      </a:r>
                      <a:endParaRPr lang="ko-KR" altLang="en-US" sz="140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Date the Study started.</a:t>
                      </a: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749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/>
                        </a:rPr>
                        <a:t>Study Time</a:t>
                      </a:r>
                      <a:endParaRPr 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(0008,0030)</a:t>
                      </a:r>
                      <a:endParaRPr lang="ko-KR" altLang="en-US" sz="140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TM</a:t>
                      </a:r>
                      <a:endParaRPr lang="ko-KR" altLang="en-US" sz="140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Time the Study started.</a:t>
                      </a: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004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/>
                        </a:rPr>
                        <a:t>Referring Physician's Name</a:t>
                      </a:r>
                      <a:endParaRPr 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(0008,0090)</a:t>
                      </a:r>
                      <a:endParaRPr lang="ko-KR" altLang="en-US" sz="14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PN</a:t>
                      </a:r>
                      <a:endParaRPr lang="ko-KR" altLang="en-US" sz="14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Name of the patient's referring physician</a:t>
                      </a: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749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/>
                        </a:rPr>
                        <a:t>Study ID</a:t>
                      </a:r>
                      <a:endParaRPr 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(0020,0010)</a:t>
                      </a:r>
                      <a:endParaRPr lang="ko-KR" altLang="en-US" sz="140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SH</a:t>
                      </a:r>
                      <a:endParaRPr lang="ko-KR" altLang="en-US" sz="140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User or equipment generated Study identifier.</a:t>
                      </a: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749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/>
                        </a:rPr>
                        <a:t>Accession Number</a:t>
                      </a:r>
                      <a:endParaRPr 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(0008,0050)</a:t>
                      </a:r>
                      <a:endParaRPr lang="ko-KR" altLang="en-US" sz="14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SH</a:t>
                      </a:r>
                      <a:endParaRPr lang="ko-KR" altLang="en-US" sz="14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 RIS generated number that identifies the order for the Study.</a:t>
                      </a: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직사각형 4"/>
          <p:cNvSpPr>
            <a:spLocks noChangeArrowheads="1"/>
          </p:cNvSpPr>
          <p:nvPr/>
        </p:nvSpPr>
        <p:spPr bwMode="auto">
          <a:xfrm>
            <a:off x="285720" y="357166"/>
            <a:ext cx="221644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4</a:t>
            </a:r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. DICOM File</a:t>
            </a:r>
            <a:endParaRPr lang="en-US" altLang="ko-KR" sz="2400" b="1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28596" y="1000108"/>
            <a:ext cx="38576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4.6. DICOM image </a:t>
            </a:r>
            <a:r>
              <a:rPr lang="en-US" altLang="ko-KR" b="1">
                <a:latin typeface="맑은 고딕" pitchFamily="50" charset="-127"/>
                <a:ea typeface="맑은 고딕" pitchFamily="50" charset="-127"/>
              </a:rPr>
              <a:t>- Series</a:t>
            </a:r>
            <a:endParaRPr lang="en-US" altLang="ko-KR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497391"/>
              </p:ext>
            </p:extLst>
          </p:nvPr>
        </p:nvGraphicFramePr>
        <p:xfrm>
          <a:off x="500034" y="1643050"/>
          <a:ext cx="8072494" cy="5110116"/>
        </p:xfrm>
        <a:graphic>
          <a:graphicData uri="http://schemas.openxmlformats.org/drawingml/2006/table">
            <a:tbl>
              <a:tblPr/>
              <a:tblGrid>
                <a:gridCol w="1902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11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1106">
                  <a:extLst>
                    <a:ext uri="{9D8B030D-6E8A-4147-A177-3AD203B41FA5}">
                      <a16:colId xmlns:a16="http://schemas.microsoft.com/office/drawing/2014/main" val="2118596916"/>
                    </a:ext>
                  </a:extLst>
                </a:gridCol>
                <a:gridCol w="2907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8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>
                          <a:solidFill>
                            <a:srgbClr val="444444"/>
                          </a:solidFill>
                          <a:latin typeface="Helvetica"/>
                        </a:rPr>
                        <a:t>Attribute Name</a:t>
                      </a:r>
                      <a:endParaRPr lang="en-US" altLang="ko-KR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444444"/>
                          </a:solidFill>
                          <a:latin typeface="Helvetica"/>
                        </a:rPr>
                        <a:t>Tag</a:t>
                      </a:r>
                      <a:endParaRPr 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>
                          <a:solidFill>
                            <a:srgbClr val="444444"/>
                          </a:solidFill>
                          <a:latin typeface="Helvetica"/>
                        </a:rPr>
                        <a:t>VR</a:t>
                      </a:r>
                      <a:endParaRPr lang="en-US" altLang="ko-KR" sz="140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444444"/>
                          </a:solidFill>
                          <a:latin typeface="Helvetica"/>
                        </a:rPr>
                        <a:t>Attribute Description</a:t>
                      </a:r>
                      <a:endParaRPr 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959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/>
                        </a:rPr>
                        <a:t>Modality</a:t>
                      </a:r>
                      <a:endParaRPr 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rgbClr val="444444"/>
                          </a:solidFill>
                          <a:latin typeface="Helvetica"/>
                        </a:rPr>
                        <a:t>(0008,0060)</a:t>
                      </a:r>
                      <a:endParaRPr lang="ko-KR" alt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solidFill>
                            <a:srgbClr val="444444"/>
                          </a:solidFill>
                          <a:latin typeface="Consolas"/>
                        </a:rPr>
                        <a:t>CS</a:t>
                      </a:r>
                      <a:endParaRPr lang="ko-KR" alt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444444"/>
                          </a:solidFill>
                          <a:latin typeface="Helvetica"/>
                        </a:rPr>
                        <a:t>Type of equipment that originally acquired the data used to create the images in this Series. See C.7.3.1.1.1 for Defined Terms. </a:t>
                      </a:r>
                      <a:endParaRPr lang="en-US" sz="11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/>
                        </a:rPr>
                        <a:t>Series Instance UID</a:t>
                      </a:r>
                      <a:endParaRPr 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/>
                        </a:rPr>
                        <a:t>(0020,000E)</a:t>
                      </a:r>
                      <a:endParaRPr 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444444"/>
                          </a:solidFill>
                          <a:latin typeface="Consolas"/>
                        </a:rPr>
                        <a:t>UI</a:t>
                      </a:r>
                      <a:endParaRPr 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444444"/>
                          </a:solidFill>
                          <a:latin typeface="Helvetica"/>
                        </a:rPr>
                        <a:t>Unique identifier of the Series.</a:t>
                      </a:r>
                      <a:endParaRPr lang="en-US" sz="11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/>
                        </a:rPr>
                        <a:t>Series Number</a:t>
                      </a:r>
                      <a:endParaRPr 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rgbClr val="444444"/>
                          </a:solidFill>
                          <a:latin typeface="Helvetica"/>
                        </a:rPr>
                        <a:t>(0020,0011)</a:t>
                      </a:r>
                      <a:endParaRPr lang="ko-KR" alt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solidFill>
                            <a:srgbClr val="444444"/>
                          </a:solidFill>
                          <a:latin typeface="Consolas"/>
                        </a:rPr>
                        <a:t>IS</a:t>
                      </a:r>
                      <a:endParaRPr lang="ko-KR" alt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444444"/>
                          </a:solidFill>
                          <a:latin typeface="Helvetica"/>
                        </a:rPr>
                        <a:t>A number that identifies this Series.</a:t>
                      </a:r>
                      <a:endParaRPr lang="en-US" sz="11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0596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/>
                        </a:rPr>
                        <a:t>Laterality</a:t>
                      </a:r>
                      <a:endParaRPr 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rgbClr val="444444"/>
                          </a:solidFill>
                          <a:latin typeface="Helvetica"/>
                        </a:rPr>
                        <a:t>(0020,0060)</a:t>
                      </a:r>
                      <a:endParaRPr lang="ko-KR" alt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solidFill>
                            <a:srgbClr val="444444"/>
                          </a:solidFill>
                          <a:latin typeface="Consolas"/>
                        </a:rPr>
                        <a:t>CS</a:t>
                      </a:r>
                      <a:endParaRPr lang="ko-KR" altLang="en-US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444444"/>
                          </a:solidFill>
                          <a:latin typeface="Helvetica"/>
                        </a:rPr>
                        <a:t>Laterality of (paired) body part examined. Required if the body part examined is a paired structure and Image Laterality (0020,0062)</a:t>
                      </a:r>
                      <a:r>
                        <a:rPr lang="en-US" sz="1100" dirty="0">
                          <a:solidFill>
                            <a:srgbClr val="444444"/>
                          </a:solidFill>
                          <a:latin typeface="Consolas"/>
                        </a:rPr>
                        <a:t> or Frame Laterality (0020,9072) are</a:t>
                      </a:r>
                      <a:r>
                        <a:rPr lang="en-US" sz="1100" b="1" dirty="0">
                          <a:solidFill>
                            <a:srgbClr val="444444"/>
                          </a:solidFill>
                          <a:latin typeface="Consolas"/>
                        </a:rPr>
                        <a:t> </a:t>
                      </a:r>
                      <a:r>
                        <a:rPr lang="en-US" sz="1100" dirty="0">
                          <a:solidFill>
                            <a:srgbClr val="444444"/>
                          </a:solidFill>
                          <a:latin typeface="Consolas"/>
                        </a:rPr>
                        <a:t>not sent. Enumerated Values:</a:t>
                      </a:r>
                      <a:br>
                        <a:rPr lang="en-US" sz="1100" dirty="0">
                          <a:solidFill>
                            <a:srgbClr val="444444"/>
                          </a:solidFill>
                          <a:latin typeface="Consolas"/>
                        </a:rPr>
                      </a:br>
                      <a:r>
                        <a:rPr lang="en-US" sz="1100" dirty="0">
                          <a:solidFill>
                            <a:srgbClr val="444444"/>
                          </a:solidFill>
                          <a:latin typeface="Consolas"/>
                        </a:rPr>
                        <a:t>            R = right</a:t>
                      </a:r>
                      <a:br>
                        <a:rPr lang="en-US" sz="1100" dirty="0">
                          <a:solidFill>
                            <a:srgbClr val="444444"/>
                          </a:solidFill>
                          <a:latin typeface="Consolas"/>
                        </a:rPr>
                      </a:br>
                      <a:r>
                        <a:rPr lang="en-US" sz="1100" dirty="0">
                          <a:solidFill>
                            <a:srgbClr val="444444"/>
                          </a:solidFill>
                          <a:latin typeface="Consolas"/>
                        </a:rPr>
                        <a:t>            L = left</a:t>
                      </a:r>
                    </a:p>
                    <a:p>
                      <a:r>
                        <a:rPr lang="en-US" sz="1100" dirty="0">
                          <a:solidFill>
                            <a:srgbClr val="444444"/>
                          </a:solidFill>
                          <a:latin typeface="Helvetica"/>
                        </a:rPr>
                        <a:t>Note:        Some IODs support Image Laterality (0020,0062)</a:t>
                      </a:r>
                      <a:r>
                        <a:rPr lang="en-US" sz="1100" dirty="0">
                          <a:solidFill>
                            <a:srgbClr val="444444"/>
                          </a:solidFill>
                          <a:latin typeface="Consolas"/>
                        </a:rPr>
                        <a:t> at the Image level or Frame Laterality(0020,9072) at the Frame level in the Frame Anatomy functional group macro, which can provide a more comprehensive mechanism for specifying the laterality of the body part(s) being examined.</a:t>
                      </a: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직사각형 4"/>
          <p:cNvSpPr>
            <a:spLocks noChangeArrowheads="1"/>
          </p:cNvSpPr>
          <p:nvPr/>
        </p:nvSpPr>
        <p:spPr bwMode="auto">
          <a:xfrm>
            <a:off x="285720" y="357166"/>
            <a:ext cx="221644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4</a:t>
            </a:r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. DICOM File</a:t>
            </a:r>
            <a:endParaRPr lang="en-US" altLang="ko-KR" sz="2400" b="1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28596" y="1000108"/>
            <a:ext cx="38576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4.6. DICOM image </a:t>
            </a:r>
            <a:r>
              <a:rPr lang="en-US" altLang="ko-KR" b="1">
                <a:latin typeface="맑은 고딕" pitchFamily="50" charset="-127"/>
                <a:ea typeface="맑은 고딕" pitchFamily="50" charset="-127"/>
              </a:rPr>
              <a:t>- Instance</a:t>
            </a:r>
            <a:endParaRPr lang="en-US" altLang="ko-KR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879085"/>
              </p:ext>
            </p:extLst>
          </p:nvPr>
        </p:nvGraphicFramePr>
        <p:xfrm>
          <a:off x="535753" y="1818938"/>
          <a:ext cx="8072494" cy="4557896"/>
        </p:xfrm>
        <a:graphic>
          <a:graphicData uri="http://schemas.openxmlformats.org/drawingml/2006/table">
            <a:tbl>
              <a:tblPr/>
              <a:tblGrid>
                <a:gridCol w="1987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49">
                  <a:extLst>
                    <a:ext uri="{9D8B030D-6E8A-4147-A177-3AD203B41FA5}">
                      <a16:colId xmlns:a16="http://schemas.microsoft.com/office/drawing/2014/main" val="682560467"/>
                    </a:ext>
                  </a:extLst>
                </a:gridCol>
                <a:gridCol w="3392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>
                          <a:solidFill>
                            <a:srgbClr val="444444"/>
                          </a:solidFill>
                          <a:latin typeface="Helvetica"/>
                        </a:rPr>
                        <a:t>Attribute Name</a:t>
                      </a:r>
                      <a:endParaRPr lang="en-US" altLang="ko-KR" sz="14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Tag</a:t>
                      </a:r>
                      <a:endParaRPr lang="en-US" sz="14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VR</a:t>
                      </a:r>
                      <a:endParaRPr lang="en-US" sz="1400" b="1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Attribute Description</a:t>
                      </a:r>
                      <a:endParaRPr lang="en-US" sz="14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89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Instance Number</a:t>
                      </a: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(0020,0013)</a:t>
                      </a: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IS</a:t>
                      </a:r>
                      <a:endParaRPr lang="en-US" altLang="ko-KR" sz="14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 number that identifies this image.</a:t>
                      </a:r>
                    </a:p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Note:        This Attribute was named Image Number in earlier versions of this Standard.</a:t>
                      </a: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93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Patient Orientation</a:t>
                      </a: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(0020,0020)</a:t>
                      </a: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IS</a:t>
                      </a:r>
                      <a:endParaRPr lang="en-US" sz="14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Patient direction of the rows and columns of the image. Required if image does not require Image Orientation (Patient) (0020,0037) and Image Position (Patient) (0020,0032). </a:t>
                      </a: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090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Content Date</a:t>
                      </a: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(0008,0023)</a:t>
                      </a: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DA</a:t>
                      </a:r>
                      <a:endParaRPr lang="en-US" altLang="ko-KR" sz="14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The date the image pixel data creation started. Required if image is part of a series in which the images are temporally related.</a:t>
                      </a:r>
                    </a:p>
                    <a:p>
                      <a:r>
                        <a:rPr lang="en-US" sz="14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Note:        This Attribute was formerly known as Image Date.</a:t>
                      </a:r>
                    </a:p>
                    <a:p>
                      <a:endParaRPr lang="en-US" sz="14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11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Content Time</a:t>
                      </a:r>
                    </a:p>
                    <a:p>
                      <a:endParaRPr lang="en-US" sz="14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(0008,0033)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  <a:p>
                      <a:pPr algn="ctr"/>
                      <a:endParaRPr lang="ko-KR" altLang="en-US" sz="14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TM</a:t>
                      </a:r>
                      <a:endParaRPr lang="ko-KR" altLang="en-US" sz="14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The time the image pixel data creation started. Required if image is part of a series in which the images are temporally related.</a:t>
                      </a:r>
                    </a:p>
                    <a:p>
                      <a:endParaRPr lang="en-US" sz="14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0053" marR="200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직사각형 4"/>
          <p:cNvSpPr>
            <a:spLocks noChangeArrowheads="1"/>
          </p:cNvSpPr>
          <p:nvPr/>
        </p:nvSpPr>
        <p:spPr bwMode="auto">
          <a:xfrm>
            <a:off x="285720" y="357166"/>
            <a:ext cx="221644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4</a:t>
            </a:r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. DICOM File</a:t>
            </a:r>
            <a:endParaRPr lang="en-US" altLang="ko-KR" sz="2400" b="1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28596" y="1000108"/>
            <a:ext cx="38576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4.7. DICOM image - pixel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922379"/>
              </p:ext>
            </p:extLst>
          </p:nvPr>
        </p:nvGraphicFramePr>
        <p:xfrm>
          <a:off x="357158" y="1500174"/>
          <a:ext cx="8429685" cy="5169184"/>
        </p:xfrm>
        <a:graphic>
          <a:graphicData uri="http://schemas.openxmlformats.org/drawingml/2006/table">
            <a:tbl>
              <a:tblPr/>
              <a:tblGrid>
                <a:gridCol w="1911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4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4878">
                  <a:extLst>
                    <a:ext uri="{9D8B030D-6E8A-4147-A177-3AD203B41FA5}">
                      <a16:colId xmlns:a16="http://schemas.microsoft.com/office/drawing/2014/main" val="345199614"/>
                    </a:ext>
                  </a:extLst>
                </a:gridCol>
                <a:gridCol w="3848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65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Attribute Name</a:t>
                      </a:r>
                      <a:endParaRPr lang="en-US" sz="14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Tag</a:t>
                      </a:r>
                      <a:endParaRPr lang="en-US" sz="14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VR</a:t>
                      </a:r>
                      <a:endParaRPr lang="en-US" sz="1400" b="1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Attribute Description</a:t>
                      </a:r>
                      <a:endParaRPr lang="en-US" sz="14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035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Samples per Pixel</a:t>
                      </a: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(0028,0002)</a:t>
                      </a:r>
                      <a:endParaRPr lang="ko-KR" altLang="en-US" sz="120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US</a:t>
                      </a:r>
                      <a:endParaRPr lang="ko-KR" altLang="en-US" sz="120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Number of samples (planes) in this image. </a:t>
                      </a: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035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Photometric Interpretation</a:t>
                      </a: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(0028,0004)</a:t>
                      </a:r>
                      <a:endParaRPr lang="ko-KR" altLang="en-US" sz="120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CS</a:t>
                      </a:r>
                      <a:endParaRPr lang="ko-KR" altLang="en-US" sz="120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Specifies the intended interpretation of the pixel data. </a:t>
                      </a: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035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Rows</a:t>
                      </a: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(0028,0010)</a:t>
                      </a:r>
                      <a:endParaRPr lang="ko-KR" altLang="en-US" sz="120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US</a:t>
                      </a:r>
                      <a:endParaRPr lang="ko-KR" altLang="en-US" sz="120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Number of rows in the image.</a:t>
                      </a: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Columns</a:t>
                      </a: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(0028,0011)</a:t>
                      </a:r>
                      <a:endParaRPr lang="ko-KR" altLang="en-US" sz="120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US</a:t>
                      </a:r>
                      <a:endParaRPr lang="ko-KR" altLang="en-US" sz="120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Number of columns in the image</a:t>
                      </a: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8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Bits Allocated</a:t>
                      </a: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(0028,0100)</a:t>
                      </a:r>
                      <a:endParaRPr lang="ko-KR" altLang="en-US" sz="120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US</a:t>
                      </a:r>
                      <a:endParaRPr lang="ko-KR" altLang="en-US" sz="120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Number of bits allocated for each pixel sample.</a:t>
                      </a:r>
                      <a:br>
                        <a:rPr lang="en-US" sz="12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</a:br>
                      <a:r>
                        <a:rPr lang="en-US" sz="12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Each sample shall have the same number of bits allocated.   </a:t>
                      </a: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74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Bits Stored</a:t>
                      </a: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(0028,0101)</a:t>
                      </a:r>
                      <a:endParaRPr lang="ko-KR" altLang="en-US" sz="12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US</a:t>
                      </a:r>
                      <a:endParaRPr lang="ko-KR" altLang="en-US" sz="1200" dirty="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Number of bits stored for each pixel sample. </a:t>
                      </a: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18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High Bit</a:t>
                      </a: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(0028,0102)</a:t>
                      </a:r>
                      <a:endParaRPr lang="ko-KR" altLang="en-US" sz="120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US</a:t>
                      </a:r>
                      <a:endParaRPr lang="ko-KR" altLang="en-US" sz="120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Most significant bit for pixel sample data. </a:t>
                      </a: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71648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Pixel Representation</a:t>
                      </a: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(0028,0103)</a:t>
                      </a:r>
                      <a:endParaRPr lang="ko-KR" altLang="en-US" sz="120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US</a:t>
                      </a:r>
                      <a:endParaRPr lang="ko-KR" altLang="en-US" sz="120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Data representation of the pixel samples. Each sample shall have the same pixel representation. Enumerated Values: </a:t>
                      </a:r>
                      <a:br>
                        <a:rPr lang="en-US" sz="12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</a:br>
                      <a:r>
                        <a:rPr lang="en-US" sz="12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           0000H = unsigned integer.</a:t>
                      </a:r>
                      <a:br>
                        <a:rPr lang="en-US" sz="12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</a:br>
                      <a:r>
                        <a:rPr lang="en-US" sz="12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           0001H = 2's complement</a:t>
                      </a: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77318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Planar Configuration</a:t>
                      </a: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(0028,0006)</a:t>
                      </a:r>
                      <a:endParaRPr lang="ko-KR" altLang="en-US" sz="120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US</a:t>
                      </a:r>
                      <a:endParaRPr lang="ko-KR" altLang="en-US" sz="120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Indicates whether the pixel data are sent color-by-plane or color-by-pixel. Required if Samples per Pixel (0028,0002) has a value greater than 1. See C.7.6.3.1.3 for further explanation.</a:t>
                      </a: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77318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Pixel Data</a:t>
                      </a: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(7FE0,0010)</a:t>
                      </a: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444444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 data stream of the pixel samples that comprise the Image</a:t>
                      </a:r>
                    </a:p>
                    <a:p>
                      <a:r>
                        <a:rPr lang="en-US" sz="1200" dirty="0">
                          <a:solidFill>
                            <a:srgbClr val="444444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Required if Pixel Data Provider URL (0028,7FE0) is not present.</a:t>
                      </a:r>
                    </a:p>
                  </a:txBody>
                  <a:tcPr marL="21315" marR="2131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7109645"/>
                  </a:ext>
                </a:extLst>
              </a:tr>
            </a:tbl>
          </a:graphicData>
        </a:graphic>
      </p:graphicFrame>
      <p:sp>
        <p:nvSpPr>
          <p:cNvPr id="9" name="직사각형 4"/>
          <p:cNvSpPr>
            <a:spLocks noChangeArrowheads="1"/>
          </p:cNvSpPr>
          <p:nvPr/>
        </p:nvSpPr>
        <p:spPr bwMode="auto">
          <a:xfrm>
            <a:off x="285720" y="357166"/>
            <a:ext cx="221644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4</a:t>
            </a:r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. DICOM File</a:t>
            </a:r>
            <a:endParaRPr lang="en-US" altLang="ko-KR" sz="2400" b="1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28596" y="1000108"/>
            <a:ext cx="58579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4.8. DICOM image – SOP common modules 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559352"/>
              </p:ext>
            </p:extLst>
          </p:nvPr>
        </p:nvGraphicFramePr>
        <p:xfrm>
          <a:off x="395536" y="1714488"/>
          <a:ext cx="8248430" cy="2824739"/>
        </p:xfrm>
        <a:graphic>
          <a:graphicData uri="http://schemas.openxmlformats.org/drawingml/2006/table">
            <a:tbl>
              <a:tblPr/>
              <a:tblGrid>
                <a:gridCol w="1461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9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29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Helvetica"/>
                        </a:rPr>
                        <a:t>Attribute Name</a:t>
                      </a:r>
                      <a:endParaRPr lang="en-US" sz="12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Helvetica"/>
                        </a:rPr>
                        <a:t>Tag</a:t>
                      </a:r>
                      <a:endParaRPr lang="en-US" sz="12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Helvetica"/>
                        </a:rPr>
                        <a:t>Attribute Description</a:t>
                      </a:r>
                      <a:endParaRPr lang="en-US" sz="12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ko-KR" altLang="en-US" sz="1200" dirty="0">
                          <a:solidFill>
                            <a:srgbClr val="444444"/>
                          </a:solidFill>
                          <a:latin typeface="Consolas"/>
                        </a:rPr>
                      </a:br>
                      <a:endParaRPr lang="ko-KR" altLang="en-US" sz="12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248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4444"/>
                          </a:solidFill>
                          <a:latin typeface="Helvetica"/>
                        </a:rPr>
                        <a:t>SOP Class UID</a:t>
                      </a:r>
                      <a:endParaRPr lang="en-US" sz="120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444444"/>
                          </a:solidFill>
                          <a:latin typeface="Helvetica"/>
                        </a:rPr>
                        <a:t>(0008,0016)</a:t>
                      </a:r>
                      <a:endParaRPr lang="ko-KR" altLang="en-US" sz="120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44444"/>
                          </a:solidFill>
                          <a:latin typeface="Helvetica"/>
                        </a:rPr>
                        <a:t>Uniquely identifies the SOP Class. </a:t>
                      </a:r>
                      <a:endParaRPr lang="en-US" sz="12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8000"/>
                          </a:solidFill>
                          <a:latin typeface="Courier New"/>
                        </a:rPr>
                        <a:t>// The SOP Class UID of</a:t>
                      </a:r>
                      <a:endParaRPr lang="en-US" sz="12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8000"/>
                          </a:solidFill>
                          <a:latin typeface="Courier New"/>
                        </a:rPr>
                        <a:t>// SC Image is </a:t>
                      </a:r>
                      <a:endParaRPr lang="en-US" sz="12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444444"/>
                          </a:solidFill>
                          <a:latin typeface="Courier New"/>
                        </a:rPr>
                        <a:t>e.Init</a:t>
                      </a:r>
                      <a:r>
                        <a:rPr lang="en-US" sz="1200" dirty="0">
                          <a:solidFill>
                            <a:srgbClr val="444444"/>
                          </a:solidFill>
                          <a:latin typeface="Courier New"/>
                        </a:rPr>
                        <a:t>((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  <a:latin typeface="Courier New"/>
                        </a:rPr>
                        <a:t>int</a:t>
                      </a:r>
                      <a:r>
                        <a:rPr lang="en-US" sz="1200" dirty="0">
                          <a:solidFill>
                            <a:srgbClr val="444444"/>
                          </a:solidFill>
                          <a:latin typeface="Courier New"/>
                        </a:rPr>
                        <a:t>)</a:t>
                      </a:r>
                      <a:r>
                        <a:rPr lang="en-US" sz="1200" dirty="0" err="1">
                          <a:solidFill>
                            <a:srgbClr val="2B91AF"/>
                          </a:solidFill>
                          <a:latin typeface="Courier New"/>
                        </a:rPr>
                        <a:t>DICOM_TAGS_ENUM</a:t>
                      </a:r>
                      <a:r>
                        <a:rPr lang="en-US" sz="1200" dirty="0" err="1">
                          <a:solidFill>
                            <a:srgbClr val="444444"/>
                          </a:solidFill>
                          <a:latin typeface="Courier New"/>
                        </a:rPr>
                        <a:t>.sopClassUid</a:t>
                      </a:r>
                      <a:r>
                        <a:rPr lang="en-US" sz="1200" dirty="0">
                          <a:solidFill>
                            <a:srgbClr val="444444"/>
                          </a:solidFill>
                          <a:latin typeface="Courier New"/>
                        </a:rPr>
                        <a:t>);</a:t>
                      </a:r>
                      <a:endParaRPr lang="en-US" sz="12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444444"/>
                          </a:solidFill>
                          <a:latin typeface="Courier New"/>
                        </a:rPr>
                        <a:t>e.Value</a:t>
                      </a:r>
                      <a:r>
                        <a:rPr lang="en-US" sz="1200" dirty="0">
                          <a:solidFill>
                            <a:srgbClr val="444444"/>
                          </a:solidFill>
                          <a:latin typeface="Courier New"/>
                        </a:rPr>
                        <a:t> = </a:t>
                      </a:r>
                      <a:r>
                        <a:rPr lang="en-US" sz="1200" dirty="0">
                          <a:solidFill>
                            <a:srgbClr val="A31515"/>
                          </a:solidFill>
                          <a:latin typeface="Courier New"/>
                        </a:rPr>
                        <a:t>"1.2.840.10008.5.1.4.1.1.7"</a:t>
                      </a:r>
                      <a:r>
                        <a:rPr lang="en-US" sz="1200" dirty="0">
                          <a:solidFill>
                            <a:srgbClr val="444444"/>
                          </a:solidFill>
                          <a:latin typeface="Courier New"/>
                        </a:rPr>
                        <a:t>;</a:t>
                      </a:r>
                      <a:endParaRPr lang="en-US" sz="12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444444"/>
                          </a:solidFill>
                          <a:latin typeface="Courier New"/>
                        </a:rPr>
                        <a:t>o.insertElement</a:t>
                      </a:r>
                      <a:r>
                        <a:rPr lang="en-US" sz="1200" dirty="0">
                          <a:solidFill>
                            <a:srgbClr val="444444"/>
                          </a:solidFill>
                          <a:latin typeface="Courier New"/>
                        </a:rPr>
                        <a:t>(e);</a:t>
                      </a:r>
                      <a:endParaRPr lang="en-US" sz="12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748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44444"/>
                          </a:solidFill>
                          <a:latin typeface="Helvetica"/>
                        </a:rPr>
                        <a:t>SOP Instance UID</a:t>
                      </a:r>
                      <a:endParaRPr lang="en-US" sz="12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444444"/>
                          </a:solidFill>
                          <a:latin typeface="Helvetica"/>
                        </a:rPr>
                        <a:t>(0008,0018)</a:t>
                      </a:r>
                      <a:endParaRPr lang="ko-KR" altLang="en-US" sz="12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444444"/>
                          </a:solidFill>
                          <a:latin typeface="Helvetica"/>
                        </a:rPr>
                        <a:t>Uniquely identifies the SOP </a:t>
                      </a:r>
                      <a:br>
                        <a:rPr lang="en-US" sz="1200" dirty="0">
                          <a:solidFill>
                            <a:srgbClr val="444444"/>
                          </a:solidFill>
                          <a:latin typeface="Helvetica"/>
                        </a:rPr>
                      </a:br>
                      <a:r>
                        <a:rPr lang="en-US" sz="1200" dirty="0">
                          <a:solidFill>
                            <a:srgbClr val="444444"/>
                          </a:solidFill>
                          <a:latin typeface="Helvetica"/>
                        </a:rPr>
                        <a:t>Instance. </a:t>
                      </a:r>
                      <a:endParaRPr lang="en-US" sz="12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8000"/>
                          </a:solidFill>
                          <a:latin typeface="Courier New"/>
                        </a:rPr>
                        <a:t>// We've </a:t>
                      </a:r>
                      <a:r>
                        <a:rPr lang="en-US" sz="1200" dirty="0" err="1">
                          <a:solidFill>
                            <a:srgbClr val="008000"/>
                          </a:solidFill>
                          <a:latin typeface="Courier New"/>
                        </a:rPr>
                        <a:t>instanciated</a:t>
                      </a:r>
                      <a:r>
                        <a:rPr lang="en-US" sz="1200" dirty="0">
                          <a:solidFill>
                            <a:srgbClr val="008000"/>
                          </a:solidFill>
                          <a:latin typeface="Courier New"/>
                        </a:rPr>
                        <a:t> a DCXUID</a:t>
                      </a:r>
                      <a:endParaRPr lang="en-US" sz="12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8000"/>
                          </a:solidFill>
                          <a:latin typeface="Courier New"/>
                        </a:rPr>
                        <a:t>// above. Let's use it again</a:t>
                      </a:r>
                      <a:endParaRPr lang="en-US" sz="12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8000"/>
                          </a:solidFill>
                          <a:latin typeface="Courier New"/>
                        </a:rPr>
                        <a:t>// to create a SOP Instance UID</a:t>
                      </a:r>
                      <a:endParaRPr lang="en-US" sz="12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444444"/>
                          </a:solidFill>
                          <a:latin typeface="Courier New"/>
                        </a:rPr>
                        <a:t>e.Init</a:t>
                      </a:r>
                      <a:r>
                        <a:rPr lang="en-US" sz="1200" dirty="0">
                          <a:solidFill>
                            <a:srgbClr val="444444"/>
                          </a:solidFill>
                          <a:latin typeface="Courier New"/>
                        </a:rPr>
                        <a:t>((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  <a:latin typeface="Courier New"/>
                        </a:rPr>
                        <a:t>int</a:t>
                      </a:r>
                      <a:r>
                        <a:rPr lang="en-US" sz="1200" dirty="0">
                          <a:solidFill>
                            <a:srgbClr val="444444"/>
                          </a:solidFill>
                          <a:latin typeface="Courier New"/>
                        </a:rPr>
                        <a:t>)</a:t>
                      </a:r>
                      <a:r>
                        <a:rPr lang="en-US" sz="1200" dirty="0" err="1">
                          <a:solidFill>
                            <a:srgbClr val="2B91AF"/>
                          </a:solidFill>
                          <a:latin typeface="Courier New"/>
                        </a:rPr>
                        <a:t>DICOM_TAGS_ENUM</a:t>
                      </a:r>
                      <a:r>
                        <a:rPr lang="en-US" sz="1200" dirty="0" err="1">
                          <a:solidFill>
                            <a:srgbClr val="444444"/>
                          </a:solidFill>
                          <a:latin typeface="Courier New"/>
                        </a:rPr>
                        <a:t>.sopInstanceUID</a:t>
                      </a:r>
                      <a:r>
                        <a:rPr lang="en-US" sz="1200" dirty="0">
                          <a:solidFill>
                            <a:srgbClr val="444444"/>
                          </a:solidFill>
                          <a:latin typeface="Courier New"/>
                        </a:rPr>
                        <a:t>);</a:t>
                      </a:r>
                      <a:endParaRPr lang="en-US" sz="12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444444"/>
                          </a:solidFill>
                          <a:latin typeface="Courier New"/>
                        </a:rPr>
                        <a:t>e.Value</a:t>
                      </a:r>
                      <a:r>
                        <a:rPr lang="en-US" sz="1200" dirty="0">
                          <a:solidFill>
                            <a:srgbClr val="444444"/>
                          </a:solidFill>
                          <a:latin typeface="Courier New"/>
                        </a:rPr>
                        <a:t> = </a:t>
                      </a:r>
                      <a:r>
                        <a:rPr lang="en-US" sz="1200" dirty="0" err="1">
                          <a:solidFill>
                            <a:srgbClr val="444444"/>
                          </a:solidFill>
                          <a:latin typeface="Courier New"/>
                        </a:rPr>
                        <a:t>uid.CreateUID</a:t>
                      </a:r>
                      <a:r>
                        <a:rPr lang="en-US" sz="1200" dirty="0">
                          <a:solidFill>
                            <a:srgbClr val="444444"/>
                          </a:solidFill>
                          <a:latin typeface="Courier New"/>
                        </a:rPr>
                        <a:t>(</a:t>
                      </a:r>
                      <a:r>
                        <a:rPr lang="en-US" sz="1200" dirty="0">
                          <a:solidFill>
                            <a:srgbClr val="2B91AF"/>
                          </a:solidFill>
                          <a:latin typeface="Courier New"/>
                        </a:rPr>
                        <a:t>UID_TYPE</a:t>
                      </a:r>
                      <a:r>
                        <a:rPr lang="en-US" sz="1200" dirty="0">
                          <a:solidFill>
                            <a:srgbClr val="444444"/>
                          </a:solidFill>
                          <a:latin typeface="Courier New"/>
                        </a:rPr>
                        <a:t>.UID_TYPE_INSTANCE);</a:t>
                      </a:r>
                      <a:endParaRPr lang="en-US" sz="12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  <a:p>
                      <a:r>
                        <a:rPr lang="en-US" sz="1200" dirty="0" err="1">
                          <a:solidFill>
                            <a:srgbClr val="444444"/>
                          </a:solidFill>
                          <a:latin typeface="Courier New"/>
                        </a:rPr>
                        <a:t>o.insertElement</a:t>
                      </a:r>
                      <a:r>
                        <a:rPr lang="en-US" sz="1200" dirty="0">
                          <a:solidFill>
                            <a:srgbClr val="444444"/>
                          </a:solidFill>
                          <a:latin typeface="Courier New"/>
                        </a:rPr>
                        <a:t>(e);</a:t>
                      </a:r>
                      <a:endParaRPr lang="en-US" sz="1200" dirty="0">
                        <a:solidFill>
                          <a:srgbClr val="444444"/>
                        </a:solidFill>
                        <a:latin typeface="Consolas"/>
                      </a:endParaRPr>
                    </a:p>
                  </a:txBody>
                  <a:tcPr marL="55912" marR="559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직사각형 4"/>
          <p:cNvSpPr>
            <a:spLocks noChangeArrowheads="1"/>
          </p:cNvSpPr>
          <p:nvPr/>
        </p:nvSpPr>
        <p:spPr bwMode="auto">
          <a:xfrm>
            <a:off x="285720" y="357166"/>
            <a:ext cx="221644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4</a:t>
            </a:r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. DICOM File</a:t>
            </a:r>
            <a:endParaRPr lang="en-US" altLang="ko-KR" sz="2400" b="1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285720" y="357166"/>
            <a:ext cx="36082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5. DICOM </a:t>
            </a:r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Service Class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428596" y="1000108"/>
            <a:ext cx="1975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5.1 Service class</a:t>
            </a:r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857224" y="1928802"/>
            <a:ext cx="4932761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08000" algn="l"/>
              </a:tabLst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Storage Service Class</a:t>
            </a:r>
            <a:endParaRPr kumimoji="1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08000" algn="l"/>
              </a:tabLst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Query/Retrieve Service Class</a:t>
            </a:r>
            <a:endParaRPr kumimoji="1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08000" algn="l"/>
              </a:tabLst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Modality </a:t>
            </a:r>
            <a:r>
              <a:rPr kumimoji="1" lang="en-US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Worklist</a:t>
            </a: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Management</a:t>
            </a:r>
            <a:endParaRPr kumimoji="1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08000" algn="l"/>
              </a:tabLst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Basic </a:t>
            </a:r>
            <a:r>
              <a:rPr kumimoji="1" lang="en-US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Worklist</a:t>
            </a: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Management</a:t>
            </a:r>
            <a:endParaRPr kumimoji="1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08000" algn="l"/>
              </a:tabLst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Modality Performed Procedure Step (MPPS)</a:t>
            </a:r>
            <a:endParaRPr kumimoji="1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08000" algn="l"/>
              </a:tabLst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Storage </a:t>
            </a:r>
            <a:r>
              <a:rPr kumimoji="1" lang="en-US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Commitement</a:t>
            </a:r>
            <a:endParaRPr kumimoji="1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08000" algn="l"/>
              </a:tabLst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Media Exchange</a:t>
            </a:r>
            <a:endParaRPr kumimoji="1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4"/>
          <p:cNvSpPr>
            <a:spLocks noChangeArrowheads="1"/>
          </p:cNvSpPr>
          <p:nvPr/>
        </p:nvSpPr>
        <p:spPr bwMode="auto">
          <a:xfrm>
            <a:off x="285720" y="357166"/>
            <a:ext cx="34992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5.DICOM Service Class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428596" y="1000108"/>
            <a:ext cx="29331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5.2 Storage Service Class</a:t>
            </a:r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785786" y="1714488"/>
            <a:ext cx="538359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08000" algn="l"/>
              </a:tabLst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</a:t>
            </a:r>
            <a:r>
              <a:rPr kumimoji="1" lang="ko-KR" altLang="en-US" sz="16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영상을 주고 </a:t>
            </a:r>
            <a:r>
              <a:rPr kumimoji="1" lang="ko-KR" altLang="en-US" sz="1600" dirty="0" err="1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받을때</a:t>
            </a:r>
            <a:r>
              <a:rPr kumimoji="1" lang="ko-KR" altLang="en-US" sz="16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사용하는 </a:t>
            </a:r>
            <a:r>
              <a:rPr kumimoji="1" lang="en-US" altLang="ko-KR" sz="1600" dirty="0" err="1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Sevice</a:t>
            </a:r>
            <a:r>
              <a:rPr kumimoji="1" lang="en-US" altLang="ko-KR" sz="16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Class</a:t>
            </a: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08000" algn="l"/>
              </a:tabLst>
            </a:pP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</a:t>
            </a:r>
            <a:r>
              <a:rPr kumimoji="1" lang="ko-KR" altLang="en-US" sz="16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모든 종류의 영상 및 형태에 대해 </a:t>
            </a:r>
            <a:r>
              <a:rPr kumimoji="1" lang="en-US" altLang="ko-KR" sz="16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SOP  Class UID </a:t>
            </a:r>
            <a:r>
              <a:rPr kumimoji="1" lang="ko-KR" altLang="en-US" sz="16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가  정의</a:t>
            </a:r>
            <a:r>
              <a:rPr kumimoji="1" lang="en-US" altLang="ko-KR" sz="16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</a:t>
            </a:r>
            <a:endParaRPr kumimoji="1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76802" name="Picture 2" descr="Storgae SOP clas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2976" y="2928934"/>
            <a:ext cx="6604133" cy="237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1"/>
          <p:cNvSpPr>
            <a:spLocks noChangeArrowheads="1"/>
          </p:cNvSpPr>
          <p:nvPr/>
        </p:nvSpPr>
        <p:spPr bwMode="auto">
          <a:xfrm>
            <a:off x="4714876" y="2143116"/>
            <a:ext cx="4143404" cy="46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</a:pP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4414" y="3357562"/>
            <a:ext cx="6381922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직사각형 5"/>
          <p:cNvSpPr/>
          <p:nvPr/>
        </p:nvSpPr>
        <p:spPr>
          <a:xfrm>
            <a:off x="428596" y="1000108"/>
            <a:ext cx="37551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5.3 Query/Retrieve Service Class</a:t>
            </a:r>
          </a:p>
        </p:txBody>
      </p:sp>
      <p:sp>
        <p:nvSpPr>
          <p:cNvPr id="7" name="직사각형 4"/>
          <p:cNvSpPr>
            <a:spLocks noChangeArrowheads="1"/>
          </p:cNvSpPr>
          <p:nvPr/>
        </p:nvSpPr>
        <p:spPr bwMode="auto">
          <a:xfrm>
            <a:off x="285720" y="357166"/>
            <a:ext cx="34992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5.DICOM Service Class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785786" y="1571612"/>
            <a:ext cx="4976042" cy="166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08000" algn="l"/>
              </a:tabLst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</a:t>
            </a:r>
            <a:r>
              <a:rPr kumimoji="1" lang="ko-KR" altLang="en-US" sz="16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영상을 검색하고 조회할 때 사용하는 기능</a:t>
            </a:r>
            <a:endParaRPr kumimoji="1" lang="en-US" altLang="ko-KR" sz="1600" dirty="0">
              <a:latin typeface="Times New Roman" pitchFamily="18" charset="0"/>
              <a:ea typeface="바탕체" pitchFamily="17" charset="-127"/>
              <a:cs typeface="Times New Roman" pitchFamily="18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08000" algn="l"/>
              </a:tabLst>
            </a:pP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</a:t>
            </a:r>
            <a:r>
              <a:rPr kumimoji="1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서로 다른 업체의 장비간의 표준화된 검색 방식 정의</a:t>
            </a:r>
            <a:endParaRPr kumimoji="1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바탕체" pitchFamily="17" charset="-127"/>
              <a:cs typeface="Times New Roman" pitchFamily="18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08000" algn="l"/>
              </a:tabLst>
            </a:pPr>
            <a:r>
              <a:rPr kumimoji="1" lang="en-US" altLang="ko-KR" sz="16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Query : </a:t>
            </a:r>
            <a:r>
              <a:rPr kumimoji="1" lang="ko-KR" altLang="en-US" sz="16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검색 할 때 사용 </a:t>
            </a:r>
            <a:endParaRPr kumimoji="1" lang="en-US" altLang="ko-KR" sz="1600" dirty="0">
              <a:latin typeface="Times New Roman" pitchFamily="18" charset="0"/>
              <a:ea typeface="바탕체" pitchFamily="17" charset="-127"/>
              <a:cs typeface="Times New Roman" pitchFamily="18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08000" algn="l"/>
              </a:tabLst>
            </a:pPr>
            <a:r>
              <a:rPr kumimoji="1" lang="en-US" altLang="ko-KR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Retrieve : </a:t>
            </a:r>
            <a:r>
              <a:rPr kumimoji="1" lang="ko-KR" altLang="en-US" sz="16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검색후</a:t>
            </a:r>
            <a:r>
              <a:rPr kumimoji="1" lang="ko-KR" altLang="en-US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필요한 영상을 가져올 때 사용</a:t>
            </a:r>
            <a:r>
              <a:rPr kumimoji="1" lang="en-US" altLang="ko-KR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.</a:t>
            </a:r>
            <a:endParaRPr kumimoji="1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1"/>
          <p:cNvSpPr>
            <a:spLocks noChangeArrowheads="1"/>
          </p:cNvSpPr>
          <p:nvPr/>
        </p:nvSpPr>
        <p:spPr bwMode="auto">
          <a:xfrm>
            <a:off x="4714876" y="2143116"/>
            <a:ext cx="4143404" cy="46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</a:pP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28596" y="1000108"/>
            <a:ext cx="4097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5.4 Modality</a:t>
            </a:r>
            <a:r>
              <a:rPr lang="ko-KR" altLang="en-US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b="1" dirty="0" err="1">
                <a:latin typeface="맑은 고딕" pitchFamily="50" charset="-127"/>
                <a:ea typeface="맑은 고딕" pitchFamily="50" charset="-127"/>
              </a:rPr>
              <a:t>Worklist</a:t>
            </a:r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 Management</a:t>
            </a:r>
          </a:p>
        </p:txBody>
      </p:sp>
      <p:sp>
        <p:nvSpPr>
          <p:cNvPr id="7" name="직사각형 4"/>
          <p:cNvSpPr>
            <a:spLocks noChangeArrowheads="1"/>
          </p:cNvSpPr>
          <p:nvPr/>
        </p:nvSpPr>
        <p:spPr bwMode="auto">
          <a:xfrm>
            <a:off x="285720" y="357166"/>
            <a:ext cx="34992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5.DICOM Service Class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714348" y="1571612"/>
            <a:ext cx="7746031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08000" algn="l"/>
              </a:tabLst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</a:t>
            </a:r>
            <a:r>
              <a:rPr kumimoji="1" lang="en-US" altLang="ko-KR" sz="16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</a:t>
            </a:r>
            <a:r>
              <a:rPr kumimoji="1" lang="ko-KR" altLang="en-US" sz="16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영상장비간 통신을 하기 위한 것이 아니라 </a:t>
            </a:r>
            <a:r>
              <a:rPr kumimoji="1" lang="en-US" altLang="ko-KR" sz="16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OCS </a:t>
            </a:r>
            <a:r>
              <a:rPr kumimoji="1" lang="ko-KR" altLang="en-US" sz="16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와 연동하기 위한 서비스</a:t>
            </a:r>
            <a:endParaRPr kumimoji="1" lang="en-US" altLang="ko-KR" sz="1600" dirty="0">
              <a:latin typeface="Times New Roman" pitchFamily="18" charset="0"/>
              <a:ea typeface="바탕체" pitchFamily="17" charset="-127"/>
              <a:cs typeface="Times New Roman" pitchFamily="18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08000" algn="l"/>
              </a:tabLst>
            </a:pP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 </a:t>
            </a:r>
            <a:r>
              <a:rPr kumimoji="1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환자 및 검사정보를 촬영자가 수작업으로 입력해야 하는</a:t>
            </a:r>
            <a:r>
              <a:rPr kumimoji="1" lang="ko-KR" altLang="en-US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번거로움과 오류입력 해결</a:t>
            </a:r>
            <a:endParaRPr kumimoji="1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714480" y="2714620"/>
            <a:ext cx="5283200" cy="1485900"/>
            <a:chOff x="1901" y="5225"/>
            <a:chExt cx="8320" cy="2340"/>
          </a:xfrm>
        </p:grpSpPr>
        <p:pic>
          <p:nvPicPr>
            <p:cNvPr id="77827" name="Picture 3" descr="ct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301" y="5405"/>
              <a:ext cx="1559" cy="1620"/>
            </a:xfrm>
            <a:prstGeom prst="rect">
              <a:avLst/>
            </a:prstGeom>
            <a:noFill/>
          </p:spPr>
        </p:pic>
        <p:pic>
          <p:nvPicPr>
            <p:cNvPr id="77828" name="Picture 4" descr="oldbook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8101" y="5405"/>
              <a:ext cx="2120" cy="1391"/>
            </a:xfrm>
            <a:prstGeom prst="rect">
              <a:avLst/>
            </a:prstGeom>
            <a:noFill/>
          </p:spPr>
        </p:pic>
        <p:sp>
          <p:nvSpPr>
            <p:cNvPr id="77829" name="Line 5"/>
            <p:cNvSpPr>
              <a:spLocks noChangeShapeType="1"/>
            </p:cNvSpPr>
            <p:nvPr/>
          </p:nvSpPr>
          <p:spPr bwMode="auto">
            <a:xfrm>
              <a:off x="4401" y="5765"/>
              <a:ext cx="3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830" name="Line 6"/>
            <p:cNvSpPr>
              <a:spLocks noChangeShapeType="1"/>
            </p:cNvSpPr>
            <p:nvPr/>
          </p:nvSpPr>
          <p:spPr bwMode="auto">
            <a:xfrm flipH="1">
              <a:off x="4401" y="6665"/>
              <a:ext cx="33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831" name="Text Box 7"/>
            <p:cNvSpPr txBox="1">
              <a:spLocks noChangeArrowheads="1"/>
            </p:cNvSpPr>
            <p:nvPr/>
          </p:nvSpPr>
          <p:spPr bwMode="auto">
            <a:xfrm>
              <a:off x="4801" y="5225"/>
              <a:ext cx="2600" cy="54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Request </a:t>
              </a:r>
              <a:r>
                <a:rPr kumimoji="1" lang="en-US" altLang="ko-KR" sz="10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Worklist</a:t>
              </a:r>
              <a:endParaRPr kumimoji="1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77832" name="Text Box 8"/>
            <p:cNvSpPr txBox="1">
              <a:spLocks noChangeArrowheads="1"/>
            </p:cNvSpPr>
            <p:nvPr/>
          </p:nvSpPr>
          <p:spPr bwMode="auto">
            <a:xfrm>
              <a:off x="4801" y="6125"/>
              <a:ext cx="2600" cy="54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Worklist Entries</a:t>
              </a: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77833" name="Text Box 9"/>
            <p:cNvSpPr txBox="1">
              <a:spLocks noChangeArrowheads="1"/>
            </p:cNvSpPr>
            <p:nvPr/>
          </p:nvSpPr>
          <p:spPr bwMode="auto">
            <a:xfrm>
              <a:off x="1901" y="7025"/>
              <a:ext cx="2700" cy="54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Modality </a:t>
              </a:r>
              <a:r>
                <a:rPr kumimoji="1" lang="en-US" altLang="ko-KR" sz="10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Worklist</a:t>
              </a:r>
              <a:r>
                <a:rPr kumimoji="1" lang="en-US" altLang="ko-KR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(SCU)</a:t>
              </a:r>
              <a:endParaRPr kumimoji="1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</p:grpSp>
      <p:sp>
        <p:nvSpPr>
          <p:cNvPr id="77834" name="Text Box 10"/>
          <p:cNvSpPr txBox="1">
            <a:spLocks noChangeArrowheads="1"/>
          </p:cNvSpPr>
          <p:nvPr/>
        </p:nvSpPr>
        <p:spPr bwMode="auto">
          <a:xfrm>
            <a:off x="5643570" y="3786190"/>
            <a:ext cx="1571624" cy="34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Modality </a:t>
            </a:r>
            <a:r>
              <a:rPr kumimoji="1" lang="en-US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Worklist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(SCP)</a:t>
            </a:r>
            <a:endParaRPr kumimoji="1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7" name="Rectangle 1"/>
          <p:cNvSpPr>
            <a:spLocks noChangeArrowheads="1"/>
          </p:cNvSpPr>
          <p:nvPr/>
        </p:nvSpPr>
        <p:spPr bwMode="auto">
          <a:xfrm>
            <a:off x="500034" y="4357694"/>
            <a:ext cx="79296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Tx/>
              <a:buChar char="-"/>
            </a:pPr>
            <a:r>
              <a:rPr lang="en-US" sz="1200" b="1" dirty="0"/>
              <a:t> BASIC WORKLIST MANAGEMENT SERVICE : </a:t>
            </a:r>
            <a:r>
              <a:rPr lang="ko-KR" altLang="en-US" sz="1200" dirty="0"/>
              <a:t>장비에서 촬영을 위해</a:t>
            </a:r>
            <a:r>
              <a:rPr lang="en-US" altLang="ko-KR" sz="1200" dirty="0"/>
              <a:t> </a:t>
            </a:r>
            <a:r>
              <a:rPr lang="ko-KR" altLang="en-US" sz="1200" dirty="0"/>
              <a:t>필요로 하는 환자</a:t>
            </a:r>
            <a:r>
              <a:rPr lang="en-US" sz="1200" dirty="0"/>
              <a:t>  </a:t>
            </a:r>
            <a:r>
              <a:rPr lang="ko-KR" altLang="en-US" sz="1200" dirty="0"/>
              <a:t>및 검사정보를 제공</a:t>
            </a:r>
            <a:endParaRPr lang="en-US" sz="1200" dirty="0"/>
          </a:p>
          <a:p>
            <a:r>
              <a:rPr lang="en-US" sz="1200" b="1" dirty="0"/>
              <a:t>- MODALITY PERFORMED PROCEDURE STEP </a:t>
            </a:r>
            <a:r>
              <a:rPr lang="en-US" sz="1200" dirty="0"/>
              <a:t>: </a:t>
            </a:r>
            <a:r>
              <a:rPr lang="ko-KR" altLang="en-US" sz="1200" dirty="0"/>
              <a:t>장비에서의 촬영 진행 상황을 나타내기</a:t>
            </a:r>
            <a:r>
              <a:rPr lang="en-US" altLang="ko-KR" sz="1200" dirty="0"/>
              <a:t>  </a:t>
            </a:r>
            <a:r>
              <a:rPr lang="ko-KR" altLang="en-US" sz="1200" dirty="0"/>
              <a:t>위한 것</a:t>
            </a:r>
            <a:r>
              <a:rPr lang="en-US" sz="1200" dirty="0"/>
              <a:t> </a:t>
            </a:r>
            <a:endParaRPr lang="ko-KR" altLang="en-US" sz="1200" dirty="0"/>
          </a:p>
        </p:txBody>
      </p:sp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1000100" y="5286388"/>
          <a:ext cx="7500990" cy="672339"/>
        </p:xfrm>
        <a:graphic>
          <a:graphicData uri="http://schemas.openxmlformats.org/drawingml/2006/table">
            <a:tbl>
              <a:tblPr/>
              <a:tblGrid>
                <a:gridCol w="4064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6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1" kern="100" dirty="0">
                          <a:latin typeface="Times New Roman"/>
                          <a:ea typeface="바탕체"/>
                        </a:rPr>
                        <a:t>SOP CLASS NAME</a:t>
                      </a:r>
                      <a:endParaRPr lang="ko-KR" sz="1100" kern="100" dirty="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1" kern="100">
                          <a:latin typeface="Times New Roman"/>
                          <a:ea typeface="바탕체"/>
                        </a:rPr>
                        <a:t>SOP CLASS UID</a:t>
                      </a:r>
                      <a:endParaRPr lang="ko-KR" sz="1100" kern="10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latin typeface="Book Antiqua"/>
                          <a:ea typeface="바탕체"/>
                        </a:rPr>
                        <a:t>Modality </a:t>
                      </a:r>
                      <a:r>
                        <a:rPr lang="en-US" sz="1100" kern="100" dirty="0" err="1">
                          <a:latin typeface="Book Antiqua"/>
                          <a:ea typeface="바탕체"/>
                        </a:rPr>
                        <a:t>Worklist</a:t>
                      </a:r>
                      <a:r>
                        <a:rPr lang="en-US" sz="1100" kern="100" dirty="0">
                          <a:latin typeface="Book Antiqua"/>
                          <a:ea typeface="바탕체"/>
                        </a:rPr>
                        <a:t> Information Model – FIND</a:t>
                      </a:r>
                      <a:endParaRPr lang="ko-KR" sz="1100" kern="100" dirty="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latin typeface="Book Antiqua"/>
                          <a:ea typeface="바탕체"/>
                        </a:rPr>
                        <a:t>1.2.840.10008.5.1.4.31</a:t>
                      </a:r>
                      <a:endParaRPr lang="ko-KR" sz="1100" kern="10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latin typeface="Book Antiqua"/>
                          <a:ea typeface="바탕체"/>
                        </a:rPr>
                        <a:t>Modality Performed Procedure Step</a:t>
                      </a:r>
                      <a:endParaRPr lang="ko-KR" sz="1100" kern="10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latin typeface="Book Antiqua"/>
                          <a:ea typeface="바탕체"/>
                        </a:rPr>
                        <a:t>1.2.840.10008.3.1.2.3.3</a:t>
                      </a:r>
                      <a:endParaRPr lang="ko-KR" sz="1100" kern="100" dirty="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1"/>
          <p:cNvSpPr>
            <a:spLocks noChangeArrowheads="1"/>
          </p:cNvSpPr>
          <p:nvPr/>
        </p:nvSpPr>
        <p:spPr bwMode="auto">
          <a:xfrm>
            <a:off x="4714876" y="2143116"/>
            <a:ext cx="4143404" cy="46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</a:pP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28596" y="1000108"/>
            <a:ext cx="38730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5.4.1 Basic </a:t>
            </a:r>
            <a:r>
              <a:rPr lang="en-US" altLang="ko-KR" b="1" dirty="0" err="1">
                <a:latin typeface="맑은 고딕" pitchFamily="50" charset="-127"/>
                <a:ea typeface="맑은 고딕" pitchFamily="50" charset="-127"/>
              </a:rPr>
              <a:t>Worklist</a:t>
            </a:r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 Management</a:t>
            </a:r>
          </a:p>
        </p:txBody>
      </p:sp>
      <p:sp>
        <p:nvSpPr>
          <p:cNvPr id="7" name="직사각형 4"/>
          <p:cNvSpPr>
            <a:spLocks noChangeArrowheads="1"/>
          </p:cNvSpPr>
          <p:nvPr/>
        </p:nvSpPr>
        <p:spPr bwMode="auto">
          <a:xfrm>
            <a:off x="285720" y="357166"/>
            <a:ext cx="34992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5.DICOM Service Class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81923" name="Object 3"/>
          <p:cNvGraphicFramePr>
            <a:graphicFrameLocks noChangeAspect="1"/>
          </p:cNvGraphicFramePr>
          <p:nvPr/>
        </p:nvGraphicFramePr>
        <p:xfrm>
          <a:off x="142844" y="2143116"/>
          <a:ext cx="4572000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프레젠테이션" r:id="rId3" imgW="4572000" imgH="3429000" progId="PowerPoint.Show.8">
                  <p:embed/>
                </p:oleObj>
              </mc:Choice>
              <mc:Fallback>
                <p:oleObj name="프레젠테이션" r:id="rId3" imgW="4572000" imgH="3429000" progId="PowerPoint.Show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44" y="2143116"/>
                        <a:ext cx="4572000" cy="342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571472" y="1500174"/>
            <a:ext cx="686277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08000" algn="l"/>
              </a:tabLst>
            </a:pPr>
            <a:r>
              <a:rPr kumimoji="1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</a:t>
            </a:r>
            <a:r>
              <a:rPr kumimoji="1" lang="en-US" altLang="ko-KR" sz="14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</a:t>
            </a:r>
            <a:r>
              <a:rPr kumimoji="1" lang="ko-KR" altLang="en-US" sz="14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검사장비에서 수행되어야 할 작업 목록</a:t>
            </a:r>
            <a:endParaRPr kumimoji="1" lang="en-US" altLang="ko-KR" sz="1400" dirty="0">
              <a:latin typeface="Times New Roman" pitchFamily="18" charset="0"/>
              <a:ea typeface="바탕체" pitchFamily="17" charset="-127"/>
              <a:cs typeface="Times New Roman" pitchFamily="18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08000" algn="l"/>
              </a:tabLst>
            </a:pPr>
            <a:r>
              <a:rPr kumimoji="1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 </a:t>
            </a:r>
            <a:r>
              <a:rPr kumimoji="1" lang="en-US" altLang="ko-KR" sz="14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Matching Key : </a:t>
            </a:r>
            <a:r>
              <a:rPr kumimoji="1" lang="ko-KR" altLang="en-US" sz="14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검사조건 </a:t>
            </a:r>
            <a:r>
              <a:rPr kumimoji="1" lang="en-US" altLang="ko-KR" sz="14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</a:t>
            </a:r>
            <a:r>
              <a:rPr kumimoji="1" lang="en-US" altLang="ko-KR" sz="1400" dirty="0">
                <a:latin typeface="굴림" pitchFamily="50" charset="-127"/>
                <a:ea typeface="굴림" pitchFamily="50" charset="-127"/>
                <a:cs typeface="Times New Roman" pitchFamily="18" charset="0"/>
              </a:rPr>
              <a:t> / </a:t>
            </a:r>
            <a:r>
              <a:rPr kumimoji="1" lang="en-US" altLang="ko-KR" sz="1400" b="1" dirty="0" err="1">
                <a:latin typeface="굴림" pitchFamily="50" charset="-127"/>
                <a:ea typeface="굴림" pitchFamily="50" charset="-127"/>
                <a:cs typeface="Times New Roman" pitchFamily="18" charset="0"/>
              </a:rPr>
              <a:t>Returnke</a:t>
            </a:r>
            <a:r>
              <a:rPr kumimoji="1" lang="en-US" altLang="ko-KR" sz="1400" dirty="0" err="1">
                <a:latin typeface="굴림" pitchFamily="50" charset="-127"/>
                <a:ea typeface="굴림" pitchFamily="50" charset="-127"/>
                <a:cs typeface="Times New Roman" pitchFamily="18" charset="0"/>
              </a:rPr>
              <a:t>y</a:t>
            </a:r>
            <a:r>
              <a:rPr kumimoji="1" lang="en-US" altLang="ko-KR" sz="1400" dirty="0">
                <a:latin typeface="굴림" pitchFamily="50" charset="-127"/>
                <a:ea typeface="굴림" pitchFamily="50" charset="-127"/>
                <a:cs typeface="Times New Roman" pitchFamily="18" charset="0"/>
              </a:rPr>
              <a:t> : </a:t>
            </a:r>
            <a:r>
              <a:rPr kumimoji="1" lang="ko-KR" altLang="en-US" sz="1400" dirty="0">
                <a:latin typeface="굴림" pitchFamily="50" charset="-127"/>
                <a:ea typeface="굴림" pitchFamily="50" charset="-127"/>
                <a:cs typeface="Times New Roman" pitchFamily="18" charset="0"/>
              </a:rPr>
              <a:t>결과정보</a:t>
            </a:r>
            <a:endParaRPr kumimoji="1" lang="en-US" altLang="ko-KR" sz="1400" dirty="0">
              <a:latin typeface="굴림" pitchFamily="50" charset="-127"/>
              <a:ea typeface="굴림" pitchFamily="50" charset="-127"/>
              <a:cs typeface="Times New Roman" pitchFamily="18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508000" algn="l"/>
              </a:tabLst>
            </a:pPr>
            <a:r>
              <a:rPr kumimoji="1" lang="en-US" altLang="ko-KR" sz="14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Ex) </a:t>
            </a:r>
            <a:r>
              <a:rPr kumimoji="1" lang="ko-KR" altLang="en-US" sz="14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오늘의</a:t>
            </a:r>
            <a:r>
              <a:rPr kumimoji="1" lang="en-US" altLang="ko-KR" sz="14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</a:t>
            </a:r>
            <a:r>
              <a:rPr kumimoji="1" lang="ko-KR" altLang="en-US" sz="14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촬영 날짜와 검사 장비의 종류에 대한 조건을 </a:t>
            </a:r>
            <a:r>
              <a:rPr kumimoji="1" lang="en-US" altLang="ko-KR" sz="14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Matching Key</a:t>
            </a:r>
            <a:r>
              <a:rPr kumimoji="1" lang="ko-KR" altLang="en-US" sz="14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로 보내고 그에 </a:t>
            </a:r>
            <a:br>
              <a:rPr kumimoji="1" lang="en-US" altLang="ko-KR" sz="14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</a:br>
            <a:r>
              <a:rPr kumimoji="1" lang="ko-KR" altLang="en-US" sz="14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해당하는 검사대상 환자의 정보를 </a:t>
            </a:r>
            <a:r>
              <a:rPr kumimoji="1" lang="en-US" altLang="ko-KR" sz="1400" dirty="0" err="1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Returnkey</a:t>
            </a:r>
            <a:r>
              <a:rPr kumimoji="1" lang="ko-KR" altLang="en-US" sz="14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로 얻어온다</a:t>
            </a:r>
            <a:r>
              <a:rPr kumimoji="1" lang="en-US" altLang="ko-KR" sz="14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.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4786314" y="2928934"/>
            <a:ext cx="4214842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Modality </a:t>
            </a:r>
            <a:r>
              <a:rPr lang="en-US" sz="1400" b="1" dirty="0" err="1"/>
              <a:t>Worklist</a:t>
            </a:r>
            <a:r>
              <a:rPr lang="en-US" sz="1400" b="1" dirty="0"/>
              <a:t> </a:t>
            </a:r>
            <a:r>
              <a:rPr lang="ko-KR" altLang="en-US" sz="1400" b="1" dirty="0"/>
              <a:t>의 실제 과정</a:t>
            </a:r>
            <a:br>
              <a:rPr lang="en-US" altLang="ko-KR" sz="1400" b="1" dirty="0"/>
            </a:br>
            <a:br>
              <a:rPr lang="en-US" altLang="ko-KR" sz="1400" b="1" dirty="0"/>
            </a:br>
            <a:r>
              <a:rPr lang="en-US" altLang="ko-KR" sz="1200" b="1" dirty="0"/>
              <a:t>1. </a:t>
            </a:r>
            <a:r>
              <a:rPr lang="en-US" sz="1200" dirty="0"/>
              <a:t> </a:t>
            </a:r>
            <a:r>
              <a:rPr lang="ko-KR" altLang="en-US" sz="1200" dirty="0"/>
              <a:t>검사 요청이 있었던 환자에 대한 정보를 </a:t>
            </a:r>
            <a:br>
              <a:rPr lang="en-US" altLang="ko-KR" sz="1200" dirty="0"/>
            </a:br>
            <a:r>
              <a:rPr lang="en-US" altLang="ko-KR" sz="1200" dirty="0"/>
              <a:t>    </a:t>
            </a:r>
            <a:r>
              <a:rPr lang="ko-KR" altLang="en-US" sz="1200" dirty="0"/>
              <a:t>검사 장비</a:t>
            </a:r>
            <a:r>
              <a:rPr lang="en-US" sz="1200" dirty="0"/>
              <a:t> </a:t>
            </a:r>
            <a:r>
              <a:rPr lang="en-US" sz="1200" dirty="0" err="1"/>
              <a:t>Worklist</a:t>
            </a:r>
            <a:r>
              <a:rPr lang="en-US" sz="1200" dirty="0"/>
              <a:t>  SCU </a:t>
            </a:r>
            <a:r>
              <a:rPr lang="ko-KR" altLang="en-US" sz="1200" dirty="0"/>
              <a:t>가</a:t>
            </a:r>
            <a:r>
              <a:rPr lang="en-US" sz="1200" dirty="0"/>
              <a:t> C-FIND-RQ </a:t>
            </a:r>
            <a:r>
              <a:rPr lang="ko-KR" altLang="en-US" sz="1200" dirty="0"/>
              <a:t>요청을 통해</a:t>
            </a:r>
            <a:r>
              <a:rPr lang="en-US" sz="1200" dirty="0"/>
              <a:t> </a:t>
            </a:r>
            <a:br>
              <a:rPr lang="en-US" sz="1200" dirty="0"/>
            </a:br>
            <a:r>
              <a:rPr lang="en-US" sz="1200" dirty="0"/>
              <a:t>    SCP </a:t>
            </a:r>
            <a:r>
              <a:rPr lang="ko-KR" altLang="en-US" sz="1200" dirty="0"/>
              <a:t>에 요구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en-US" altLang="ko-KR" sz="1200" b="1" dirty="0"/>
              <a:t>2. </a:t>
            </a:r>
            <a:r>
              <a:rPr lang="en-US" sz="1200" b="1" dirty="0"/>
              <a:t> </a:t>
            </a:r>
            <a:r>
              <a:rPr lang="en-US" sz="1200" dirty="0"/>
              <a:t>C-FIND-RQ </a:t>
            </a:r>
            <a:r>
              <a:rPr lang="ko-KR" altLang="en-US" sz="1200" dirty="0"/>
              <a:t>시 이</a:t>
            </a:r>
            <a:r>
              <a:rPr lang="en-US" sz="1200" dirty="0"/>
              <a:t> Modality </a:t>
            </a:r>
            <a:r>
              <a:rPr lang="en-US" sz="1200" dirty="0" err="1"/>
              <a:t>Worklist</a:t>
            </a:r>
            <a:r>
              <a:rPr lang="en-US" sz="1200" dirty="0"/>
              <a:t> Information Model </a:t>
            </a:r>
            <a:r>
              <a:rPr lang="ko-KR" altLang="en-US" sz="1200" dirty="0"/>
              <a:t>안에 질의에 대한 조건이 들어가고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en-US" altLang="ko-KR" sz="1200" b="1" dirty="0"/>
              <a:t>3. </a:t>
            </a:r>
            <a:r>
              <a:rPr lang="ko-KR" altLang="en-US" sz="1200" dirty="0"/>
              <a:t> 장비와</a:t>
            </a:r>
            <a:r>
              <a:rPr lang="en-US" sz="1200" dirty="0"/>
              <a:t> DICOM </a:t>
            </a:r>
            <a:r>
              <a:rPr lang="ko-KR" altLang="en-US" sz="1200" dirty="0"/>
              <a:t>통신을 하는</a:t>
            </a:r>
            <a:r>
              <a:rPr lang="en-US" sz="1200" dirty="0"/>
              <a:t> </a:t>
            </a:r>
            <a:r>
              <a:rPr lang="en-US" sz="1200" dirty="0" err="1"/>
              <a:t>Worklist</a:t>
            </a:r>
            <a:r>
              <a:rPr lang="en-US" sz="1200" dirty="0"/>
              <a:t>  SCP</a:t>
            </a:r>
            <a:r>
              <a:rPr lang="ko-KR" altLang="en-US" sz="1200" dirty="0"/>
              <a:t>는 </a:t>
            </a:r>
            <a:br>
              <a:rPr lang="en-US" altLang="ko-KR" sz="1200" dirty="0"/>
            </a:br>
            <a:r>
              <a:rPr lang="ko-KR" altLang="en-US" sz="1200" dirty="0"/>
              <a:t>다시</a:t>
            </a:r>
            <a:r>
              <a:rPr lang="en-US" sz="1200" dirty="0"/>
              <a:t> C-FIND-RSP </a:t>
            </a:r>
            <a:r>
              <a:rPr lang="ko-KR" altLang="en-US" sz="1200" dirty="0"/>
              <a:t>답신을 통해 요청된 질의에 대한 결과를 이</a:t>
            </a:r>
            <a:r>
              <a:rPr lang="en-US" sz="1200" dirty="0"/>
              <a:t> Modality </a:t>
            </a:r>
            <a:r>
              <a:rPr lang="en-US" sz="1200" dirty="0" err="1"/>
              <a:t>Worklist</a:t>
            </a:r>
            <a:r>
              <a:rPr lang="en-US" sz="1200" dirty="0"/>
              <a:t> Information</a:t>
            </a:r>
            <a:r>
              <a:rPr lang="ko-KR" altLang="en-US" sz="1200" dirty="0"/>
              <a:t>에 담아 돌려 보냄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graphicFrame>
        <p:nvGraphicFramePr>
          <p:cNvPr id="23" name="표 22"/>
          <p:cNvGraphicFramePr>
            <a:graphicFrameLocks noGrp="1"/>
          </p:cNvGraphicFramePr>
          <p:nvPr/>
        </p:nvGraphicFramePr>
        <p:xfrm>
          <a:off x="571472" y="5857892"/>
          <a:ext cx="3000396" cy="664083"/>
        </p:xfrm>
        <a:graphic>
          <a:graphicData uri="http://schemas.openxmlformats.org/drawingml/2006/table">
            <a:tbl>
              <a:tblPr/>
              <a:tblGrid>
                <a:gridCol w="3000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latin typeface="Times New Roman"/>
                          <a:ea typeface="바탕체"/>
                        </a:rPr>
                        <a:t>DIMSE Service Element</a:t>
                      </a:r>
                      <a:endParaRPr lang="ko-KR" sz="1100" kern="100" dirty="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latin typeface="Times New Roman"/>
                          <a:ea typeface="바탕체"/>
                        </a:rPr>
                        <a:t>C-FIND-RQ</a:t>
                      </a:r>
                      <a:endParaRPr lang="ko-KR" sz="1100" kern="100" dirty="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latin typeface="Times New Roman"/>
                          <a:ea typeface="바탕체"/>
                        </a:rPr>
                        <a:t>C-FIND-RSP</a:t>
                      </a:r>
                      <a:endParaRPr lang="ko-KR" sz="1100" kern="100" dirty="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직사각형 23"/>
          <p:cNvSpPr/>
          <p:nvPr/>
        </p:nvSpPr>
        <p:spPr>
          <a:xfrm>
            <a:off x="3714744" y="5929330"/>
            <a:ext cx="51435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tabLst>
                <a:tab pos="508000" algn="l"/>
              </a:tabLst>
            </a:pPr>
            <a:r>
              <a:rPr kumimoji="1" lang="en-US" altLang="ko-KR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* </a:t>
            </a:r>
            <a:r>
              <a:rPr lang="en-US" sz="1200" dirty="0" err="1"/>
              <a:t>Worklist</a:t>
            </a:r>
            <a:r>
              <a:rPr lang="en-US" sz="1200" dirty="0"/>
              <a:t> SOP Class </a:t>
            </a:r>
            <a:r>
              <a:rPr lang="ko-KR" altLang="en-US" sz="1200" dirty="0"/>
              <a:t>는</a:t>
            </a:r>
            <a:r>
              <a:rPr lang="en-US" sz="1200" dirty="0"/>
              <a:t> DICOM</a:t>
            </a:r>
            <a:r>
              <a:rPr lang="ko-KR" altLang="en-US" sz="1200" dirty="0"/>
              <a:t>에서</a:t>
            </a:r>
            <a:r>
              <a:rPr lang="en-US" sz="1200" dirty="0"/>
              <a:t> C-FIND DIMSE </a:t>
            </a:r>
            <a:r>
              <a:rPr lang="ko-KR" altLang="en-US" sz="1200" dirty="0"/>
              <a:t>명령과</a:t>
            </a:r>
            <a:r>
              <a:rPr lang="en-US" sz="1200" dirty="0"/>
              <a:t> Modality </a:t>
            </a:r>
            <a:r>
              <a:rPr lang="en-US" sz="1200" dirty="0" err="1"/>
              <a:t>Worklist</a:t>
            </a:r>
            <a:r>
              <a:rPr lang="en-US" sz="1200" dirty="0"/>
              <a:t> Information Model </a:t>
            </a:r>
            <a:r>
              <a:rPr lang="ko-KR" altLang="en-US" sz="1200" dirty="0"/>
              <a:t>정보객체의 결합을 통해 이루어짐</a:t>
            </a:r>
            <a:endParaRPr kumimoji="1" lang="en-US" altLang="ko-KR" sz="1200" dirty="0">
              <a:latin typeface="Times New Roman" pitchFamily="18" charset="0"/>
              <a:ea typeface="바탕체" pitchFamily="17" charset="-127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1"/>
          <p:cNvSpPr>
            <a:spLocks noChangeArrowheads="1"/>
          </p:cNvSpPr>
          <p:nvPr/>
        </p:nvSpPr>
        <p:spPr bwMode="auto">
          <a:xfrm>
            <a:off x="4714876" y="2143116"/>
            <a:ext cx="4143404" cy="46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</a:pP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28596" y="1000108"/>
            <a:ext cx="55744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5.4.2 Modality Performed Procedure Step(MPPS)</a:t>
            </a:r>
          </a:p>
        </p:txBody>
      </p:sp>
      <p:sp>
        <p:nvSpPr>
          <p:cNvPr id="7" name="직사각형 4"/>
          <p:cNvSpPr>
            <a:spLocks noChangeArrowheads="1"/>
          </p:cNvSpPr>
          <p:nvPr/>
        </p:nvSpPr>
        <p:spPr bwMode="auto">
          <a:xfrm>
            <a:off x="285720" y="357166"/>
            <a:ext cx="34992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5.DICOM Service Class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82949" name="Object 5"/>
          <p:cNvGraphicFramePr>
            <a:graphicFrameLocks noChangeAspect="1"/>
          </p:cNvGraphicFramePr>
          <p:nvPr/>
        </p:nvGraphicFramePr>
        <p:xfrm>
          <a:off x="357158" y="2500306"/>
          <a:ext cx="4572000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프레젠테이션" r:id="rId3" imgW="4572000" imgH="3429000" progId="PowerPoint.Show.8">
                  <p:embed/>
                </p:oleObj>
              </mc:Choice>
              <mc:Fallback>
                <p:oleObj name="프레젠테이션" r:id="rId3" imgW="4572000" imgH="3429000" progId="PowerPoint.Show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58" y="2500306"/>
                        <a:ext cx="4572000" cy="342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357158" y="1714488"/>
            <a:ext cx="8326318" cy="1061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08000" algn="l"/>
              </a:tabLst>
            </a:pPr>
            <a:r>
              <a:rPr kumimoji="1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 </a:t>
            </a: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장비에 기본적인 환자 및 검사정보가 제공 되어지면 </a:t>
            </a:r>
            <a:r>
              <a:rPr kumimoji="1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촬영의 시작</a:t>
            </a:r>
            <a:r>
              <a:rPr kumimoji="1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, </a:t>
            </a:r>
            <a:r>
              <a:rPr kumimoji="1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진행 및 종료의 과정을 </a:t>
            </a: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거치게 되는데</a:t>
            </a:r>
            <a:br>
              <a:rPr kumimoji="1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</a:br>
            <a:r>
              <a:rPr kumimoji="1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 MPPS</a:t>
            </a: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는 이러한 촬영의 진행과정을 </a:t>
            </a:r>
            <a:r>
              <a:rPr kumimoji="1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DICOM</a:t>
            </a:r>
            <a:r>
              <a:rPr kumimoji="1" lang="en-US" altLang="ko-KR" sz="1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message</a:t>
            </a:r>
            <a:r>
              <a:rPr kumimoji="1" lang="ko-KR" altLang="en-US" sz="1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의 형태로 보</a:t>
            </a:r>
            <a:r>
              <a:rPr kumimoji="1" lang="ko-KR" altLang="en-US" sz="14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냄</a:t>
            </a:r>
            <a:r>
              <a:rPr kumimoji="1" lang="ko-KR" altLang="en-US" sz="1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으로써 쉽게 진행 상태를 알 수 </a:t>
            </a:r>
            <a:br>
              <a:rPr kumimoji="1" lang="en-US" altLang="ko-KR" sz="1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</a:br>
            <a:r>
              <a:rPr kumimoji="1" lang="ko-KR" altLang="en-US" sz="1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있도록 함</a:t>
            </a:r>
            <a:r>
              <a:rPr kumimoji="1" lang="en-US" altLang="ko-KR" sz="1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.</a:t>
            </a:r>
            <a:r>
              <a:rPr kumimoji="1" lang="ko-KR" altLang="en-US" sz="1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</a:t>
            </a:r>
            <a:endParaRPr kumimoji="1" lang="en-US" altLang="ko-KR" sz="1400" dirty="0">
              <a:latin typeface="Times New Roman" pitchFamily="18" charset="0"/>
              <a:ea typeface="바탕체" pitchFamily="17" charset="-127"/>
              <a:cs typeface="Times New Roman" pitchFamily="18" charset="0"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5143504" y="3714752"/>
          <a:ext cx="3643338" cy="664083"/>
        </p:xfrm>
        <a:graphic>
          <a:graphicData uri="http://schemas.openxmlformats.org/drawingml/2006/table">
            <a:tbl>
              <a:tblPr/>
              <a:tblGrid>
                <a:gridCol w="2083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0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latin typeface="Times New Roman"/>
                          <a:ea typeface="바탕체"/>
                        </a:rPr>
                        <a:t>DIMSE Service Element</a:t>
                      </a:r>
                      <a:endParaRPr lang="ko-KR" sz="1100" kern="100" dirty="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latin typeface="Times New Roman"/>
                          <a:ea typeface="바탕체"/>
                        </a:rPr>
                        <a:t>Usage SCU/SCP</a:t>
                      </a:r>
                      <a:endParaRPr lang="ko-KR" sz="1100" kern="10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latin typeface="Times New Roman"/>
                          <a:ea typeface="바탕체"/>
                        </a:rPr>
                        <a:t>N-CREATE</a:t>
                      </a:r>
                      <a:endParaRPr lang="ko-KR" sz="1100" kern="10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latin typeface="Times New Roman"/>
                          <a:ea typeface="바탕체"/>
                        </a:rPr>
                        <a:t>M/M</a:t>
                      </a:r>
                      <a:endParaRPr lang="ko-KR" sz="1100" kern="10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latin typeface="Times New Roman"/>
                          <a:ea typeface="바탕체"/>
                        </a:rPr>
                        <a:t>N-SET</a:t>
                      </a:r>
                      <a:endParaRPr lang="ko-KR" sz="1100" kern="100" dirty="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latin typeface="Times New Roman"/>
                          <a:ea typeface="바탕체"/>
                        </a:rPr>
                        <a:t>M/M</a:t>
                      </a:r>
                      <a:endParaRPr lang="ko-KR" sz="1100" kern="100" dirty="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1"/>
          <p:cNvSpPr>
            <a:spLocks noChangeArrowheads="1"/>
          </p:cNvSpPr>
          <p:nvPr/>
        </p:nvSpPr>
        <p:spPr bwMode="auto">
          <a:xfrm>
            <a:off x="4714876" y="2143116"/>
            <a:ext cx="4143404" cy="46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</a:pP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28596" y="1000108"/>
            <a:ext cx="2953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5.5 Storage Commitment</a:t>
            </a:r>
          </a:p>
        </p:txBody>
      </p:sp>
      <p:sp>
        <p:nvSpPr>
          <p:cNvPr id="7" name="직사각형 4"/>
          <p:cNvSpPr>
            <a:spLocks noChangeArrowheads="1"/>
          </p:cNvSpPr>
          <p:nvPr/>
        </p:nvSpPr>
        <p:spPr bwMode="auto">
          <a:xfrm>
            <a:off x="285720" y="357166"/>
            <a:ext cx="34992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5.DICOM Service Class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383268" y="1643050"/>
            <a:ext cx="8760732" cy="697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508000" algn="l"/>
              </a:tabLst>
            </a:pPr>
            <a:r>
              <a:rPr kumimoji="1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</a:t>
            </a:r>
            <a:r>
              <a:rPr lang="en-US" sz="1400" dirty="0"/>
              <a:t>Storage Commitment</a:t>
            </a:r>
            <a:r>
              <a:rPr lang="ko-KR" altLang="en-US" sz="1400" dirty="0"/>
              <a:t>는 영상장비에서 특정 영상이 확실하게 서버에 저장이 되었는지를 확인할 때에 사용</a:t>
            </a:r>
            <a:endParaRPr lang="en-US" altLang="ko-KR" sz="1400" dirty="0"/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508000" algn="l"/>
              </a:tabLst>
            </a:pPr>
            <a:r>
              <a:rPr lang="en-US" sz="1400" dirty="0"/>
              <a:t> DICOM </a:t>
            </a:r>
            <a:r>
              <a:rPr lang="en-US" sz="1400" dirty="0" err="1"/>
              <a:t>Worklist</a:t>
            </a:r>
            <a:r>
              <a:rPr lang="ko-KR" altLang="en-US" sz="1400" dirty="0"/>
              <a:t>와 더불어 최근 생산되는 장비에는 거의 기본적으로 탑재</a:t>
            </a:r>
            <a:endParaRPr kumimoji="1" lang="en-US" altLang="ko-KR" sz="1400" dirty="0">
              <a:latin typeface="Times New Roman" pitchFamily="18" charset="0"/>
              <a:ea typeface="바탕체" pitchFamily="17" charset="-127"/>
              <a:cs typeface="Times New Roman" pitchFamily="18" charset="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500166" y="2786058"/>
            <a:ext cx="5397500" cy="1600200"/>
            <a:chOff x="1801" y="13145"/>
            <a:chExt cx="8500" cy="2520"/>
          </a:xfrm>
        </p:grpSpPr>
        <p:pic>
          <p:nvPicPr>
            <p:cNvPr id="84996" name="Picture 4" descr="gateway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401" y="13419"/>
              <a:ext cx="1700" cy="1607"/>
            </a:xfrm>
            <a:prstGeom prst="rect">
              <a:avLst/>
            </a:prstGeom>
            <a:noFill/>
          </p:spPr>
        </p:pic>
        <p:sp>
          <p:nvSpPr>
            <p:cNvPr id="84997" name="Line 5"/>
            <p:cNvSpPr>
              <a:spLocks noChangeShapeType="1"/>
            </p:cNvSpPr>
            <p:nvPr/>
          </p:nvSpPr>
          <p:spPr bwMode="auto">
            <a:xfrm>
              <a:off x="4101" y="13685"/>
              <a:ext cx="3900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998" name="Text Box 6"/>
            <p:cNvSpPr txBox="1">
              <a:spLocks noChangeArrowheads="1"/>
            </p:cNvSpPr>
            <p:nvPr/>
          </p:nvSpPr>
          <p:spPr bwMode="auto">
            <a:xfrm>
              <a:off x="4601" y="13145"/>
              <a:ext cx="270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바탕체" pitchFamily="17" charset="-127"/>
                </a:rPr>
                <a:t>C-Store Operation</a:t>
              </a: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84999" name="Line 7"/>
            <p:cNvSpPr>
              <a:spLocks noChangeShapeType="1"/>
            </p:cNvSpPr>
            <p:nvPr/>
          </p:nvSpPr>
          <p:spPr bwMode="auto">
            <a:xfrm>
              <a:off x="4101" y="14405"/>
              <a:ext cx="3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000" name="Line 8"/>
            <p:cNvSpPr>
              <a:spLocks noChangeShapeType="1"/>
            </p:cNvSpPr>
            <p:nvPr/>
          </p:nvSpPr>
          <p:spPr bwMode="auto">
            <a:xfrm flipH="1">
              <a:off x="4101" y="14945"/>
              <a:ext cx="3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001" name="Text Box 9"/>
            <p:cNvSpPr txBox="1">
              <a:spLocks noChangeArrowheads="1"/>
            </p:cNvSpPr>
            <p:nvPr/>
          </p:nvSpPr>
          <p:spPr bwMode="auto">
            <a:xfrm>
              <a:off x="3801" y="13865"/>
              <a:ext cx="480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바탕체" pitchFamily="17" charset="-127"/>
                </a:rPr>
                <a:t>N-ACTION-list of reference Image of UIDs</a:t>
              </a: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85002" name="Text Box 10"/>
            <p:cNvSpPr txBox="1">
              <a:spLocks noChangeArrowheads="1"/>
            </p:cNvSpPr>
            <p:nvPr/>
          </p:nvSpPr>
          <p:spPr bwMode="auto">
            <a:xfrm>
              <a:off x="1801" y="15125"/>
              <a:ext cx="2900" cy="54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Storage Commitment(SCU)</a:t>
              </a: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85003" name="Text Box 11"/>
            <p:cNvSpPr txBox="1">
              <a:spLocks noChangeArrowheads="1"/>
            </p:cNvSpPr>
            <p:nvPr/>
          </p:nvSpPr>
          <p:spPr bwMode="auto">
            <a:xfrm>
              <a:off x="7401" y="15125"/>
              <a:ext cx="2900" cy="54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</a:rPr>
                <a:t>Storage Commitment(SCP)</a:t>
              </a: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85004" name="Text Box 12"/>
            <p:cNvSpPr txBox="1">
              <a:spLocks noChangeArrowheads="1"/>
            </p:cNvSpPr>
            <p:nvPr/>
          </p:nvSpPr>
          <p:spPr bwMode="auto">
            <a:xfrm>
              <a:off x="4501" y="14405"/>
              <a:ext cx="350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바탕체" pitchFamily="17" charset="-127"/>
                </a:rPr>
                <a:t>N-EVENT-(Success or Fail)</a:t>
              </a:r>
              <a:endParaRPr kumimoji="1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pic>
          <p:nvPicPr>
            <p:cNvPr id="85005" name="Picture 13" descr="ct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201" y="13325"/>
              <a:ext cx="1559" cy="1620"/>
            </a:xfrm>
            <a:prstGeom prst="rect">
              <a:avLst/>
            </a:prstGeom>
            <a:noFill/>
          </p:spPr>
        </p:pic>
      </p:grpSp>
      <p:pic>
        <p:nvPicPr>
          <p:cNvPr id="85006" name="Picture 14" descr="Storage Commitment UID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85786" y="5000636"/>
            <a:ext cx="5857916" cy="139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직사각형 23"/>
          <p:cNvSpPr/>
          <p:nvPr/>
        </p:nvSpPr>
        <p:spPr>
          <a:xfrm>
            <a:off x="857224" y="4643446"/>
            <a:ext cx="525496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/>
              <a:t>이러한 기능을 제공하기 위하여 아래와 같은</a:t>
            </a:r>
            <a:r>
              <a:rPr lang="en-US" sz="1400" dirty="0"/>
              <a:t> SOP Class</a:t>
            </a:r>
            <a:r>
              <a:rPr lang="ko-KR" altLang="en-US" sz="1400" dirty="0"/>
              <a:t>를 제공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1"/>
          <p:cNvSpPr>
            <a:spLocks noChangeArrowheads="1"/>
          </p:cNvSpPr>
          <p:nvPr/>
        </p:nvSpPr>
        <p:spPr bwMode="auto">
          <a:xfrm>
            <a:off x="4714876" y="2143116"/>
            <a:ext cx="4143404" cy="46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</a:pP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28596" y="1000108"/>
            <a:ext cx="23927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5.6 Media Exchange</a:t>
            </a:r>
          </a:p>
        </p:txBody>
      </p:sp>
      <p:sp>
        <p:nvSpPr>
          <p:cNvPr id="7" name="직사각형 4"/>
          <p:cNvSpPr>
            <a:spLocks noChangeArrowheads="1"/>
          </p:cNvSpPr>
          <p:nvPr/>
        </p:nvSpPr>
        <p:spPr bwMode="auto">
          <a:xfrm>
            <a:off x="285720" y="357166"/>
            <a:ext cx="34992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5.DICOM Service Class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383268" y="1643050"/>
            <a:ext cx="8558753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508000" algn="l"/>
              </a:tabLst>
            </a:pPr>
            <a:r>
              <a:rPr kumimoji="1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</a:t>
            </a:r>
            <a:r>
              <a:rPr lang="en-US" sz="1400" dirty="0"/>
              <a:t>Media Exchange</a:t>
            </a:r>
            <a:r>
              <a:rPr lang="ko-KR" altLang="en-US" sz="1400" dirty="0"/>
              <a:t>라는 것은 의료영상을 네트워크가 아니라</a:t>
            </a:r>
            <a:r>
              <a:rPr lang="en-US" sz="1400" dirty="0"/>
              <a:t> </a:t>
            </a:r>
            <a:r>
              <a:rPr lang="en-US" sz="1400" b="1" dirty="0"/>
              <a:t>CD </a:t>
            </a:r>
            <a:r>
              <a:rPr lang="ko-KR" altLang="en-US" sz="1400" b="1" dirty="0"/>
              <a:t>나</a:t>
            </a:r>
            <a:r>
              <a:rPr lang="en-US" sz="1400" b="1" dirty="0"/>
              <a:t> MOD, DVD</a:t>
            </a:r>
            <a:r>
              <a:rPr lang="ko-KR" altLang="en-US" sz="1400" dirty="0"/>
              <a:t>와 같은 저장매체를 통해</a:t>
            </a:r>
            <a:br>
              <a:rPr lang="en-US" altLang="ko-KR" sz="1400" dirty="0"/>
            </a:br>
            <a:r>
              <a:rPr lang="en-US" altLang="ko-KR" sz="1400" dirty="0"/>
              <a:t> </a:t>
            </a:r>
            <a:r>
              <a:rPr lang="ko-KR" altLang="en-US" sz="1400" dirty="0"/>
              <a:t> 영상을 전달할 때에 어떻게 해야 하는지를 규정</a:t>
            </a:r>
            <a:endParaRPr lang="en-US" altLang="ko-KR" sz="1400" dirty="0"/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508000" algn="l"/>
              </a:tabLst>
            </a:pPr>
            <a:r>
              <a:rPr kumimoji="1" lang="en-US" altLang="ko-KR" sz="14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 </a:t>
            </a:r>
            <a:r>
              <a:rPr lang="en-US" sz="1400" dirty="0"/>
              <a:t>DICOM </a:t>
            </a:r>
            <a:r>
              <a:rPr lang="ko-KR" altLang="en-US" sz="1400" dirty="0"/>
              <a:t>방식으로 구운</a:t>
            </a:r>
            <a:r>
              <a:rPr lang="en-US" sz="1400" dirty="0"/>
              <a:t> CD</a:t>
            </a:r>
            <a:r>
              <a:rPr lang="ko-KR" altLang="en-US" sz="1400" dirty="0"/>
              <a:t>를 보통</a:t>
            </a:r>
            <a:r>
              <a:rPr lang="en-US" sz="1400" dirty="0"/>
              <a:t> DICOM CDR</a:t>
            </a:r>
            <a:r>
              <a:rPr lang="ko-KR" altLang="en-US" sz="1400" dirty="0"/>
              <a:t>이라고 부르는데</a:t>
            </a:r>
            <a:r>
              <a:rPr lang="en-US" sz="1400" dirty="0"/>
              <a:t>, </a:t>
            </a:r>
            <a:r>
              <a:rPr lang="ko-KR" altLang="en-US" sz="1400" dirty="0"/>
              <a:t>이</a:t>
            </a:r>
            <a:r>
              <a:rPr lang="en-US" sz="1400" dirty="0"/>
              <a:t> CD</a:t>
            </a:r>
            <a:r>
              <a:rPr lang="ko-KR" altLang="en-US" sz="1400" dirty="0"/>
              <a:t>에는 반드시</a:t>
            </a:r>
            <a:r>
              <a:rPr lang="en-US" sz="1400" dirty="0"/>
              <a:t> </a:t>
            </a:r>
            <a:r>
              <a:rPr lang="en-US" sz="1400" b="1" dirty="0"/>
              <a:t>DICOMDIR </a:t>
            </a:r>
            <a:r>
              <a:rPr lang="ko-KR" altLang="en-US" sz="1400" dirty="0"/>
              <a:t>이라고 </a:t>
            </a:r>
            <a:br>
              <a:rPr lang="en-US" altLang="ko-KR" sz="1400" dirty="0"/>
            </a:br>
            <a:r>
              <a:rPr lang="en-US" altLang="ko-KR" sz="1400" dirty="0"/>
              <a:t>  </a:t>
            </a:r>
            <a:r>
              <a:rPr lang="ko-KR" altLang="en-US" sz="1400" dirty="0"/>
              <a:t>하는 디렉토리 파일이 들어있어야 하며 이는  그</a:t>
            </a:r>
            <a:r>
              <a:rPr lang="en-US" sz="1400" dirty="0"/>
              <a:t> CD</a:t>
            </a:r>
            <a:r>
              <a:rPr lang="ko-KR" altLang="en-US" sz="1400" dirty="0"/>
              <a:t>안에 들어있는 내용의 목차가 저장되어 있는 파일</a:t>
            </a:r>
            <a:endParaRPr kumimoji="1" lang="en-US" altLang="ko-KR" sz="1400" dirty="0">
              <a:latin typeface="Times New Roman" pitchFamily="18" charset="0"/>
              <a:ea typeface="바탕체" pitchFamily="17" charset="-127"/>
              <a:cs typeface="Times New Roman" pitchFamily="18" charset="0"/>
            </a:endParaRPr>
          </a:p>
        </p:txBody>
      </p:sp>
      <p:pic>
        <p:nvPicPr>
          <p:cNvPr id="8704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71736" y="3214686"/>
            <a:ext cx="4000528" cy="3449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1"/>
          <p:cNvSpPr>
            <a:spLocks noChangeArrowheads="1"/>
          </p:cNvSpPr>
          <p:nvPr/>
        </p:nvSpPr>
        <p:spPr bwMode="auto">
          <a:xfrm>
            <a:off x="4714876" y="2143116"/>
            <a:ext cx="4143404" cy="46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</a:pP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28596" y="1000108"/>
            <a:ext cx="35725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>
                <a:latin typeface="맑은 고딕" pitchFamily="50" charset="-127"/>
                <a:ea typeface="맑은 고딕" pitchFamily="50" charset="-127"/>
              </a:rPr>
              <a:t>5.7 </a:t>
            </a:r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Print Management Model</a:t>
            </a:r>
          </a:p>
        </p:txBody>
      </p:sp>
      <p:sp>
        <p:nvSpPr>
          <p:cNvPr id="7" name="직사각형 4"/>
          <p:cNvSpPr>
            <a:spLocks noChangeArrowheads="1"/>
          </p:cNvSpPr>
          <p:nvPr/>
        </p:nvSpPr>
        <p:spPr bwMode="auto">
          <a:xfrm>
            <a:off x="285720" y="357166"/>
            <a:ext cx="34992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5.DICOM Service Class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357158" y="1571612"/>
            <a:ext cx="7443063" cy="374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508000" algn="l"/>
              </a:tabLst>
            </a:pPr>
            <a:r>
              <a:rPr lang="ko-KR" altLang="en-US" sz="1400" dirty="0"/>
              <a:t> 프린트하고자 하는 영상과 영상에 관련된 기타 데이터들을 관리하기 위해 사용하는 </a:t>
            </a:r>
            <a:r>
              <a:rPr lang="en-US" altLang="ko-KR" sz="1400" dirty="0"/>
              <a:t>class</a:t>
            </a:r>
            <a:endParaRPr kumimoji="1" lang="en-US" altLang="ko-KR" sz="1400" dirty="0">
              <a:latin typeface="Times New Roman" pitchFamily="18" charset="0"/>
              <a:ea typeface="바탕체" pitchFamily="17" charset="-127"/>
              <a:cs typeface="Times New Roman" pitchFamily="18" charset="0"/>
            </a:endParaRPr>
          </a:p>
        </p:txBody>
      </p:sp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92161" name="Object 1"/>
          <p:cNvGraphicFramePr>
            <a:graphicFrameLocks noChangeAspect="1"/>
          </p:cNvGraphicFramePr>
          <p:nvPr/>
        </p:nvGraphicFramePr>
        <p:xfrm>
          <a:off x="214282" y="2214554"/>
          <a:ext cx="3786214" cy="28396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슬라이드" r:id="rId3" imgW="4572000" imgH="3429000" progId="PowerPoint.Slide.8">
                  <p:embed/>
                </p:oleObj>
              </mc:Choice>
              <mc:Fallback>
                <p:oleObj name="슬라이드" r:id="rId3" imgW="4572000" imgH="3429000" progId="PowerPoint.Slide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82" y="2214554"/>
                        <a:ext cx="3786214" cy="283966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3872230" y="4643446"/>
          <a:ext cx="4914612" cy="1639824"/>
        </p:xfrm>
        <a:graphic>
          <a:graphicData uri="http://schemas.openxmlformats.org/drawingml/2006/table">
            <a:tbl>
              <a:tblPr/>
              <a:tblGrid>
                <a:gridCol w="2340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1" kern="100" dirty="0">
                          <a:latin typeface="Times New Roman"/>
                          <a:ea typeface="바탕체"/>
                        </a:rPr>
                        <a:t>SOP Class</a:t>
                      </a:r>
                      <a:endParaRPr lang="ko-KR" sz="1100" kern="100" dirty="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b="1" kern="100">
                          <a:latin typeface="Times New Roman"/>
                          <a:ea typeface="바탕체"/>
                        </a:rPr>
                        <a:t>SOP Class UID</a:t>
                      </a:r>
                      <a:endParaRPr lang="ko-KR" sz="1100" kern="10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latin typeface="Times New Roman"/>
                          <a:ea typeface="바탕체"/>
                        </a:rPr>
                        <a:t>Reference</a:t>
                      </a:r>
                      <a:endParaRPr lang="ko-KR" sz="1100" kern="10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latin typeface="Times New Roman"/>
                          <a:ea typeface="바탕체"/>
                        </a:rPr>
                        <a:t>Basic Grayscales Print </a:t>
                      </a:r>
                      <a:endParaRPr lang="ko-KR" sz="1100" kern="100">
                        <a:latin typeface="Times New Roman"/>
                        <a:ea typeface="바탕체"/>
                      </a:endParaRPr>
                    </a:p>
                    <a:p>
                      <a:pPr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latin typeface="Times New Roman"/>
                          <a:ea typeface="바탕체"/>
                        </a:rPr>
                        <a:t>Management SOP Class</a:t>
                      </a:r>
                      <a:endParaRPr lang="ko-KR" sz="1100" kern="10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latin typeface="Times New Roman"/>
                          <a:ea typeface="바탕체"/>
                        </a:rPr>
                        <a:t>1.2.840.10008.5.1.1.9</a:t>
                      </a:r>
                      <a:endParaRPr lang="ko-KR" sz="1100" kern="10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latin typeface="Times New Roman"/>
                          <a:ea typeface="바탕체"/>
                        </a:rPr>
                        <a:t>2.1</a:t>
                      </a:r>
                      <a:endParaRPr lang="ko-KR" sz="1100" kern="10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latin typeface="Times New Roman"/>
                          <a:ea typeface="바탕체"/>
                        </a:rPr>
                        <a:t>Basic Color Print </a:t>
                      </a:r>
                      <a:endParaRPr lang="ko-KR" sz="1100" kern="100" dirty="0">
                        <a:latin typeface="Times New Roman"/>
                        <a:ea typeface="바탕체"/>
                      </a:endParaRPr>
                    </a:p>
                    <a:p>
                      <a:pPr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latin typeface="Times New Roman"/>
                          <a:ea typeface="바탕체"/>
                        </a:rPr>
                        <a:t>Management SOP Class</a:t>
                      </a:r>
                      <a:endParaRPr lang="ko-KR" sz="1100" kern="100" dirty="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latin typeface="Times New Roman"/>
                          <a:ea typeface="바탕체"/>
                        </a:rPr>
                        <a:t>1.2.840.10008.5.1.1.18</a:t>
                      </a:r>
                      <a:endParaRPr lang="ko-KR" sz="1100" kern="10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latin typeface="Times New Roman"/>
                          <a:ea typeface="바탕체"/>
                        </a:rPr>
                        <a:t>2.2</a:t>
                      </a:r>
                      <a:endParaRPr lang="ko-KR" sz="1100" kern="10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latin typeface="Times New Roman"/>
                          <a:ea typeface="바탕체"/>
                        </a:rPr>
                        <a:t>Pull Stored Print </a:t>
                      </a:r>
                      <a:endParaRPr lang="ko-KR" sz="1100" kern="100" dirty="0">
                        <a:latin typeface="Times New Roman"/>
                        <a:ea typeface="바탕체"/>
                      </a:endParaRPr>
                    </a:p>
                    <a:p>
                      <a:pPr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latin typeface="Times New Roman"/>
                          <a:ea typeface="바탕체"/>
                        </a:rPr>
                        <a:t>Management SOP Class</a:t>
                      </a:r>
                      <a:endParaRPr lang="ko-KR" sz="1100" kern="100" dirty="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latin typeface="Times New Roman"/>
                          <a:ea typeface="바탕체"/>
                        </a:rPr>
                        <a:t>1.2.840.10008.5.1.1.32</a:t>
                      </a:r>
                      <a:endParaRPr lang="ko-KR" sz="1100" kern="100" dirty="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latin typeface="Times New Roman"/>
                          <a:ea typeface="바탕체"/>
                        </a:rPr>
                        <a:t>2.3</a:t>
                      </a:r>
                      <a:endParaRPr lang="ko-KR" sz="1100" kern="100" dirty="0"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1"/>
          <p:cNvSpPr>
            <a:spLocks noChangeArrowheads="1"/>
          </p:cNvSpPr>
          <p:nvPr/>
        </p:nvSpPr>
        <p:spPr bwMode="auto">
          <a:xfrm>
            <a:off x="4714876" y="2143116"/>
            <a:ext cx="4143404" cy="46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</a:pP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28596" y="1000108"/>
            <a:ext cx="3580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>
                <a:latin typeface="맑은 고딕" pitchFamily="50" charset="-127"/>
                <a:ea typeface="맑은 고딕" pitchFamily="50" charset="-127"/>
              </a:rPr>
              <a:t>5.8 </a:t>
            </a:r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Image Information Model</a:t>
            </a:r>
          </a:p>
        </p:txBody>
      </p:sp>
      <p:sp>
        <p:nvSpPr>
          <p:cNvPr id="7" name="직사각형 4"/>
          <p:cNvSpPr>
            <a:spLocks noChangeArrowheads="1"/>
          </p:cNvSpPr>
          <p:nvPr/>
        </p:nvSpPr>
        <p:spPr bwMode="auto">
          <a:xfrm>
            <a:off x="285720" y="357166"/>
            <a:ext cx="34992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>
                <a:latin typeface="맑은 고딕" pitchFamily="50" charset="-127"/>
                <a:ea typeface="맑은 고딕" pitchFamily="50" charset="-127"/>
              </a:rPr>
              <a:t>5.DICOM Service Class</a:t>
            </a:r>
            <a:endParaRPr lang="en-US" altLang="ko-KR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357158" y="1571612"/>
            <a:ext cx="5766322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508000" algn="l"/>
              </a:tabLst>
            </a:pPr>
            <a:r>
              <a:rPr lang="ko-KR" altLang="en-US" sz="1400" dirty="0"/>
              <a:t> 각 환자</a:t>
            </a:r>
            <a:r>
              <a:rPr lang="en-US" sz="1400" dirty="0"/>
              <a:t>(Patient) </a:t>
            </a:r>
            <a:r>
              <a:rPr lang="ko-KR" altLang="en-US" sz="1400" dirty="0"/>
              <a:t>당 여러 개의 검사</a:t>
            </a:r>
            <a:r>
              <a:rPr lang="en-US" sz="1400" dirty="0"/>
              <a:t>(Study), Series </a:t>
            </a:r>
            <a:r>
              <a:rPr lang="ko-KR" altLang="en-US" sz="1400" dirty="0"/>
              <a:t>및</a:t>
            </a:r>
            <a:r>
              <a:rPr lang="en-US" sz="1400" dirty="0"/>
              <a:t> Image</a:t>
            </a:r>
            <a:r>
              <a:rPr lang="ko-KR" altLang="en-US" sz="1400" dirty="0"/>
              <a:t>가 발생</a:t>
            </a:r>
            <a:endParaRPr lang="en-US" altLang="ko-KR" sz="1400" dirty="0"/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508000" algn="l"/>
              </a:tabLst>
            </a:pPr>
            <a:r>
              <a:rPr kumimoji="1" lang="en-US" altLang="ko-KR" sz="1400" dirty="0">
                <a:latin typeface="Times New Roman" pitchFamily="18" charset="0"/>
                <a:ea typeface="바탕체" pitchFamily="17" charset="-127"/>
                <a:cs typeface="Times New Roman" pitchFamily="18" charset="0"/>
              </a:rPr>
              <a:t>  </a:t>
            </a:r>
            <a:r>
              <a:rPr lang="en-US" sz="1400" dirty="0"/>
              <a:t>Patient, Study, Series, Image</a:t>
            </a:r>
            <a:r>
              <a:rPr lang="ko-KR" altLang="en-US" sz="1400" dirty="0"/>
              <a:t>는</a:t>
            </a:r>
            <a:r>
              <a:rPr lang="en-US" sz="1400" dirty="0"/>
              <a:t> 1 : n</a:t>
            </a:r>
            <a:r>
              <a:rPr lang="ko-KR" altLang="en-US" sz="1400" dirty="0"/>
              <a:t>의 포함 관계</a:t>
            </a:r>
            <a:endParaRPr kumimoji="1" lang="en-US" altLang="ko-KR" sz="1400" dirty="0">
              <a:latin typeface="Times New Roman" pitchFamily="18" charset="0"/>
              <a:ea typeface="바탕체" pitchFamily="17" charset="-127"/>
              <a:cs typeface="Times New Roman" pitchFamily="18" charset="0"/>
            </a:endParaRPr>
          </a:p>
        </p:txBody>
      </p:sp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93187" name="Picture 3" descr="Mapping Real Worl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0100" y="2714620"/>
            <a:ext cx="7097091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1"/>
          <p:cNvSpPr>
            <a:spLocks noChangeArrowheads="1"/>
          </p:cNvSpPr>
          <p:nvPr/>
        </p:nvSpPr>
        <p:spPr bwMode="auto">
          <a:xfrm>
            <a:off x="4714876" y="2143116"/>
            <a:ext cx="4143404" cy="46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</a:pP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28596" y="1000108"/>
            <a:ext cx="56555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>
                <a:latin typeface="맑은 고딕" pitchFamily="50" charset="-127"/>
                <a:ea typeface="맑은 고딕" pitchFamily="50" charset="-127"/>
              </a:rPr>
              <a:t>5.9 Image </a:t>
            </a:r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Types</a:t>
            </a:r>
          </a:p>
        </p:txBody>
      </p:sp>
      <p:sp>
        <p:nvSpPr>
          <p:cNvPr id="7" name="직사각형 4"/>
          <p:cNvSpPr>
            <a:spLocks noChangeArrowheads="1"/>
          </p:cNvSpPr>
          <p:nvPr/>
        </p:nvSpPr>
        <p:spPr bwMode="auto">
          <a:xfrm>
            <a:off x="285720" y="357166"/>
            <a:ext cx="34992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5.DICOM Service Class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94211" name="Picture 3" descr="Generic Image Typ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1500174"/>
            <a:ext cx="5391150" cy="513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5357818" y="1500174"/>
            <a:ext cx="3429024" cy="1344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508000" algn="l"/>
              </a:tabLst>
            </a:pPr>
            <a:r>
              <a:rPr lang="ko-KR" altLang="en-US" sz="1400" dirty="0"/>
              <a:t> </a:t>
            </a:r>
            <a:r>
              <a:rPr lang="en-US" sz="1400" dirty="0"/>
              <a:t>Image Information</a:t>
            </a:r>
            <a:r>
              <a:rPr lang="ko-KR" altLang="en-US" sz="1400" dirty="0"/>
              <a:t>은 각자의 역할에 따라</a:t>
            </a:r>
            <a:r>
              <a:rPr lang="en-US" sz="1400" dirty="0"/>
              <a:t> Patient Information, Study Information, Series Information, Application Information </a:t>
            </a:r>
            <a:r>
              <a:rPr lang="ko-KR" altLang="en-US" sz="1400" dirty="0"/>
              <a:t>등으로 나누어짐</a:t>
            </a:r>
            <a:r>
              <a:rPr lang="en-US" altLang="ko-KR" sz="1400" dirty="0"/>
              <a:t>.</a:t>
            </a:r>
            <a:endParaRPr kumimoji="1" lang="en-US" altLang="ko-KR" sz="1400" dirty="0">
              <a:latin typeface="Times New Roman" pitchFamily="18" charset="0"/>
              <a:ea typeface="바탕체" pitchFamily="17" charset="-127"/>
              <a:cs typeface="Times New Roman" pitchFamily="18" charset="0"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5429256" y="3000372"/>
          <a:ext cx="3429024" cy="2571768"/>
        </p:xfrm>
        <a:graphic>
          <a:graphicData uri="http://schemas.openxmlformats.org/drawingml/2006/table">
            <a:tbl>
              <a:tblPr/>
              <a:tblGrid>
                <a:gridCol w="948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0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4426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latin typeface="돋움"/>
                          <a:ea typeface="바탕체"/>
                        </a:rPr>
                        <a:t>Identification Attribute</a:t>
                      </a:r>
                      <a:endParaRPr lang="ko-KR" sz="1100" kern="100" dirty="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latin typeface="돋움"/>
                          <a:ea typeface="바탕체"/>
                        </a:rPr>
                        <a:t>SOP Class UID, </a:t>
                      </a:r>
                      <a:r>
                        <a:rPr lang="en-US" sz="1100" b="1" kern="100" dirty="0">
                          <a:latin typeface="돋움"/>
                          <a:ea typeface="바탕체"/>
                        </a:rPr>
                        <a:t>Study Instance UID, Series Instance UID, Image Instance UID(=SOP Instance UID) </a:t>
                      </a:r>
                      <a:r>
                        <a:rPr lang="ko-KR" sz="1100" b="1" kern="100" dirty="0">
                          <a:latin typeface="Times New Roman"/>
                          <a:ea typeface="돋움"/>
                        </a:rPr>
                        <a:t>등</a:t>
                      </a:r>
                      <a:endParaRPr lang="ko-KR" sz="1100" b="1" kern="100" dirty="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281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100" kern="100">
                          <a:latin typeface="돋움"/>
                          <a:ea typeface="바탕체"/>
                        </a:rPr>
                        <a:t>Modality Type</a:t>
                      </a:r>
                      <a:endParaRPr lang="ko-KR" sz="11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latin typeface="돋움"/>
                          <a:ea typeface="바탕체"/>
                        </a:rPr>
                        <a:t>Modality Type</a:t>
                      </a:r>
                      <a:endParaRPr lang="ko-KR" sz="1100" kern="100" dirty="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latin typeface="돋움"/>
                          <a:ea typeface="바탕체"/>
                        </a:rPr>
                        <a:t>Pixel Value Interpretation</a:t>
                      </a:r>
                      <a:endParaRPr lang="ko-KR" sz="1100" kern="100" dirty="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latin typeface="돋움"/>
                          <a:ea typeface="바탕체"/>
                        </a:rPr>
                        <a:t>Photometric Interpretation </a:t>
                      </a:r>
                      <a:r>
                        <a:rPr lang="ko-KR" sz="1100" kern="100" dirty="0">
                          <a:latin typeface="Times New Roman"/>
                          <a:ea typeface="돋움"/>
                        </a:rPr>
                        <a:t>등</a:t>
                      </a:r>
                      <a:endParaRPr lang="ko-KR" sz="1100" kern="100" dirty="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4426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100" kern="100">
                          <a:latin typeface="돋움"/>
                          <a:ea typeface="바탕체"/>
                        </a:rPr>
                        <a:t>Pixel Encoding</a:t>
                      </a:r>
                      <a:endParaRPr lang="ko-KR" sz="11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latin typeface="돋움"/>
                          <a:ea typeface="바탕체"/>
                        </a:rPr>
                        <a:t>Bit Allocated, Bit Stored, High Bit, Pixel Representation, Planar Configuration </a:t>
                      </a:r>
                      <a:r>
                        <a:rPr lang="ko-KR" sz="1100" kern="100" dirty="0">
                          <a:latin typeface="Times New Roman"/>
                          <a:ea typeface="돋움"/>
                        </a:rPr>
                        <a:t>등</a:t>
                      </a:r>
                      <a:endParaRPr lang="ko-KR" sz="1100" kern="100" dirty="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281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100" kern="100">
                          <a:latin typeface="돋움"/>
                          <a:ea typeface="바탕체"/>
                        </a:rPr>
                        <a:t>Pixel Matrix</a:t>
                      </a:r>
                      <a:endParaRPr lang="ko-KR" sz="1100" kern="10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latin typeface="돋움"/>
                          <a:ea typeface="바탕체"/>
                        </a:rPr>
                        <a:t>Pixel Data</a:t>
                      </a:r>
                      <a:endParaRPr lang="ko-KR" sz="1100" kern="100" dirty="0">
                        <a:latin typeface="Times New Roman"/>
                        <a:ea typeface="바탕체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1"/>
          <p:cNvSpPr>
            <a:spLocks noChangeArrowheads="1"/>
          </p:cNvSpPr>
          <p:nvPr/>
        </p:nvSpPr>
        <p:spPr bwMode="auto">
          <a:xfrm>
            <a:off x="4714876" y="2143116"/>
            <a:ext cx="4143404" cy="46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</a:pPr>
            <a:endParaRPr kumimoji="1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28596" y="1000108"/>
            <a:ext cx="33575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>
                <a:latin typeface="맑은 고딕" pitchFamily="50" charset="-127"/>
                <a:ea typeface="맑은 고딕" pitchFamily="50" charset="-127"/>
              </a:rPr>
              <a:t>5.10. </a:t>
            </a:r>
            <a:r>
              <a:rPr lang="en-US" altLang="ko-KR" b="1" dirty="0">
                <a:latin typeface="맑은 고딕" pitchFamily="50" charset="-127"/>
                <a:ea typeface="맑은 고딕" pitchFamily="50" charset="-127"/>
              </a:rPr>
              <a:t>SOP instance UID</a:t>
            </a:r>
          </a:p>
        </p:txBody>
      </p:sp>
      <p:sp>
        <p:nvSpPr>
          <p:cNvPr id="7" name="직사각형 4"/>
          <p:cNvSpPr>
            <a:spLocks noChangeArrowheads="1"/>
          </p:cNvSpPr>
          <p:nvPr/>
        </p:nvSpPr>
        <p:spPr bwMode="auto">
          <a:xfrm>
            <a:off x="285720" y="357166"/>
            <a:ext cx="34992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5.DICOM Service Class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972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844" y="1785926"/>
            <a:ext cx="9001156" cy="4581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직사각형 15"/>
          <p:cNvSpPr/>
          <p:nvPr/>
        </p:nvSpPr>
        <p:spPr bwMode="auto">
          <a:xfrm>
            <a:off x="214282" y="4357694"/>
            <a:ext cx="7858180" cy="285752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가는각진제목체" pitchFamily="18" charset="-127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4"/>
          <p:cNvSpPr>
            <a:spLocks noChangeArrowheads="1"/>
          </p:cNvSpPr>
          <p:nvPr/>
        </p:nvSpPr>
        <p:spPr bwMode="auto">
          <a:xfrm>
            <a:off x="3500430" y="3286124"/>
            <a:ext cx="180369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2400" b="1" dirty="0">
                <a:latin typeface="맑은 고딕" pitchFamily="50" charset="-127"/>
                <a:ea typeface="맑은 고딕" pitchFamily="50" charset="-127"/>
              </a:rPr>
              <a:t>감사합니다</a:t>
            </a:r>
            <a:r>
              <a:rPr lang="en-US" altLang="ko-KR" sz="2400" b="1" dirty="0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  <a:ea typeface="가는각진제목체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  <a:ea typeface="가는각진제목체" pitchFamily="18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2866</TotalTime>
  <Words>3279</Words>
  <Application>Microsoft Office PowerPoint</Application>
  <PresentationFormat>화면 슬라이드 쇼(4:3)</PresentationFormat>
  <Paragraphs>716</Paragraphs>
  <Slides>47</Slides>
  <Notes>45</Notes>
  <HiddenSlides>0</HiddenSlides>
  <MMClips>0</MMClips>
  <ScaleCrop>false</ScaleCrop>
  <HeadingPairs>
    <vt:vector size="8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2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47</vt:i4>
      </vt:variant>
    </vt:vector>
  </HeadingPairs>
  <TitlesOfParts>
    <vt:vector size="64" baseType="lpstr">
      <vt:lpstr>굴림</vt:lpstr>
      <vt:lpstr>나눔고딕</vt:lpstr>
      <vt:lpstr>돋움</vt:lpstr>
      <vt:lpstr>맑은 고딕</vt:lpstr>
      <vt:lpstr>바탕</vt:lpstr>
      <vt:lpstr>Arial</vt:lpstr>
      <vt:lpstr>Book Antiqua</vt:lpstr>
      <vt:lpstr>Consolas</vt:lpstr>
      <vt:lpstr>Courier New</vt:lpstr>
      <vt:lpstr>Helvetica</vt:lpstr>
      <vt:lpstr>Times New Roman</vt:lpstr>
      <vt:lpstr>Verdana</vt:lpstr>
      <vt:lpstr>Wingdings</vt:lpstr>
      <vt:lpstr>Office 테마</vt:lpstr>
      <vt:lpstr>기본 디자인</vt:lpstr>
      <vt:lpstr>프레젠테이션</vt:lpstr>
      <vt:lpstr>슬라이드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Portable Software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夜來香</dc:creator>
  <cp:lastModifiedBy>여봉규</cp:lastModifiedBy>
  <cp:revision>467</cp:revision>
  <dcterms:created xsi:type="dcterms:W3CDTF">2012-10-27T06:19:22Z</dcterms:created>
  <dcterms:modified xsi:type="dcterms:W3CDTF">2023-10-18T02:11:45Z</dcterms:modified>
</cp:coreProperties>
</file>